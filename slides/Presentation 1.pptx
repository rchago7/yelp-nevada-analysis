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0_2424C107.xml" ContentType="application/vnd.ms-powerpoint.comments+xml"/>
  <Override PartName="/ppt/comments/modernComment_101_A351499C.xml" ContentType="application/vnd.ms-powerpoint.comments+xml"/>
  <Override PartName="/ppt/comments/modernComment_102_C59B59E7.xml" ContentType="application/vnd.ms-powerpoint.comments+xml"/>
  <Override PartName="/ppt/comments/modernComment_103_A76E181B.xml" ContentType="application/vnd.ms-powerpoint.comments+xml"/>
  <Override PartName="/ppt/comments/modernComment_104_C64C7DA3.xml" ContentType="application/vnd.ms-powerpoint.comments+xml"/>
  <Override PartName="/ppt/comments/modernComment_105_A291E93E.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omments/modernComment_106_23BA8B35.xml" ContentType="application/vnd.ms-powerpoint.comments+xml"/>
  <Override PartName="/ppt/comments/modernComment_107_F18B2FD5.xml" ContentType="application/vnd.ms-powerpoint.comments+xml"/>
  <Override PartName="/ppt/comments/modernComment_108_D109F7FC.xml" ContentType="application/vnd.ms-powerpoint.comments+xml"/>
  <Override PartName="/ppt/comments/modernComment_109_36B669A.xml" ContentType="application/vnd.ms-powerpoint.comments+xml"/>
  <Override PartName="/ppt/comments/modernComment_10A_78AE0DDF.xml" ContentType="application/vnd.ms-powerpoint.comments+xml"/>
  <Override PartName="/ppt/comments/modernComment_10B_702051B.xml" ContentType="application/vnd.ms-powerpoint.comments+xml"/>
  <Override PartName="/ppt/comments/modernComment_10C_F6DE7ED0.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D150586-628A-9C83-825C-0A741BDC59CA}" name="Chagollan, Ruben" initials="CR" userId="S::rchagol6@calstatela.edu::fadceded-41e3-41a0-9e14-3f2fe7d65dcd"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8AA4FF-884B-F4B2-E1AF-2DA6DA240601}" v="1362" dt="2025-12-03T06:09:42.0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https://csula-my.sharepoint.com/personal/rchagol6_calstatela_edu/Documents/Presentation%201_BarClustered.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Top 10 Nevada Cities by Business Count</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1"/>
          <c:order val="0"/>
          <c:tx>
            <c:strRef>
              <c:f>Sheet1!$C$2</c:f>
              <c:strCache>
                <c:ptCount val="1"/>
                <c:pt idx="0">
                  <c:v>Total</c:v>
                </c:pt>
              </c:strCache>
            </c:strRef>
          </c:tx>
          <c:spPr>
            <a:solidFill>
              <a:schemeClr val="accent2"/>
            </a:solidFill>
            <a:ln>
              <a:noFill/>
            </a:ln>
            <a:effectLst/>
          </c:spPr>
          <c:invertIfNegative val="0"/>
          <c:cat>
            <c:numRef>
              <c:f>Sheet1!$A$3:$A$12</c:f>
              <c:numCache>
                <c:formatCode>General</c:formatCode>
                <c:ptCount val="10"/>
              </c:numCache>
            </c:numRef>
          </c:cat>
          <c:val>
            <c:numRef>
              <c:f>Sheet1!$C$3:$C$12</c:f>
              <c:numCache>
                <c:formatCode>General</c:formatCode>
                <c:ptCount val="10"/>
                <c:pt idx="0">
                  <c:v>4059</c:v>
                </c:pt>
                <c:pt idx="1">
                  <c:v>1162</c:v>
                </c:pt>
                <c:pt idx="2">
                  <c:v>33</c:v>
                </c:pt>
                <c:pt idx="3">
                  <c:v>32</c:v>
                </c:pt>
                <c:pt idx="4">
                  <c:v>23</c:v>
                </c:pt>
                <c:pt idx="5">
                  <c:v>18</c:v>
                </c:pt>
                <c:pt idx="6">
                  <c:v>4</c:v>
                </c:pt>
                <c:pt idx="7">
                  <c:v>3</c:v>
                </c:pt>
                <c:pt idx="8">
                  <c:v>2</c:v>
                </c:pt>
                <c:pt idx="9">
                  <c:v>2</c:v>
                </c:pt>
              </c:numCache>
            </c:numRef>
          </c:val>
          <c:extLst>
            <c:ext xmlns:c16="http://schemas.microsoft.com/office/drawing/2014/chart" uri="{C3380CC4-5D6E-409C-BE32-E72D297353CC}">
              <c16:uniqueId val="{00000001-9C00-4D87-B103-D8C8C134BF6F}"/>
            </c:ext>
          </c:extLst>
        </c:ser>
        <c:dLbls>
          <c:showLegendKey val="0"/>
          <c:showVal val="0"/>
          <c:showCatName val="0"/>
          <c:showSerName val="0"/>
          <c:showPercent val="0"/>
          <c:showBubbleSize val="0"/>
        </c:dLbls>
        <c:gapWidth val="182"/>
        <c:axId val="1964940255"/>
        <c:axId val="1964940735"/>
      </c:barChart>
      <c:catAx>
        <c:axId val="196494025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64940735"/>
        <c:crosses val="autoZero"/>
        <c:auto val="1"/>
        <c:lblAlgn val="ctr"/>
        <c:lblOffset val="100"/>
        <c:noMultiLvlLbl val="0"/>
      </c:catAx>
      <c:valAx>
        <c:axId val="196494073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6494025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10A_78AE0DDF.xml><?xml version="1.0" encoding="utf-8"?>
<p188:cmLst xmlns:a="http://schemas.openxmlformats.org/drawingml/2006/main" xmlns:r="http://schemas.openxmlformats.org/officeDocument/2006/relationships" xmlns:p188="http://schemas.microsoft.com/office/powerpoint/2018/8/main">
  <p188:cm id="{4DB775B2-91EB-432F-A92E-0FCAD04E655A}" authorId="{8D150586-628A-9C83-825C-0A741BDC59CA}" created="2025-12-03T06:09:14.067">
    <pc:sldMkLst xmlns:pc="http://schemas.microsoft.com/office/powerpoint/2013/main/command">
      <pc:docMk/>
      <pc:sldMk cId="2024672735" sldId="266"/>
    </pc:sldMkLst>
    <p188:txBody>
      <a:bodyPr/>
      <a:lstStyle/>
      <a:p>
        <a:r>
          <a:rPr lang="en-US"/>
          <a:t>“All code, queries, and documentation are available publicly on GitHub.
 You can follow the link to view the full project.”</a:t>
        </a:r>
      </a:p>
    </p188:txBody>
  </p188:cm>
</p188:cmLst>
</file>

<file path=ppt/comments/modernComment_10B_702051B.xml><?xml version="1.0" encoding="utf-8"?>
<p188:cmLst xmlns:a="http://schemas.openxmlformats.org/drawingml/2006/main" xmlns:r="http://schemas.openxmlformats.org/officeDocument/2006/relationships" xmlns:p188="http://schemas.microsoft.com/office/powerpoint/2018/8/main">
  <p188:cm id="{11710D07-6896-4011-890E-47C9B17F1C23}" authorId="{8D150586-628A-9C83-825C-0A741BDC59CA}" created="2025-12-03T06:09:25.536">
    <pc:sldMkLst xmlns:pc="http://schemas.microsoft.com/office/powerpoint/2013/main/command">
      <pc:docMk/>
      <pc:sldMk cId="117572891" sldId="267"/>
    </pc:sldMkLst>
    <p188:txBody>
      <a:bodyPr/>
      <a:lstStyle/>
      <a:p>
        <a:r>
          <a:rPr lang="en-US"/>
          <a:t>“In conclusion, this project successfully demonstrated how Big Data tools can be used to analyze real-world business trends.
 Using Hive and HDFS allowed us to efficiently process a large Yelp dataset and extract useful spatial insights about Nevada.”</a:t>
        </a:r>
      </a:p>
    </p188:txBody>
  </p188:cm>
</p188:cmLst>
</file>

<file path=ppt/comments/modernComment_10C_F6DE7ED0.xml><?xml version="1.0" encoding="utf-8"?>
<p188:cmLst xmlns:a="http://schemas.openxmlformats.org/drawingml/2006/main" xmlns:r="http://schemas.openxmlformats.org/officeDocument/2006/relationships" xmlns:p188="http://schemas.microsoft.com/office/powerpoint/2018/8/main">
  <p188:cm id="{9974CB47-8FD4-49F8-A3A9-8CD75A57BED9}" authorId="{8D150586-628A-9C83-825C-0A741BDC59CA}" created="2025-12-03T06:09:42.052">
    <pc:sldMkLst xmlns:pc="http://schemas.microsoft.com/office/powerpoint/2013/main/command">
      <pc:docMk/>
      <pc:sldMk cId="4141776592" sldId="268"/>
    </pc:sldMkLst>
    <p188:txBody>
      <a:bodyPr/>
      <a:lstStyle/>
      <a:p>
        <a:r>
          <a:rPr lang="en-US"/>
          <a:t>“Thank you. These are the resources used in the project.</a:t>
        </a:r>
      </a:p>
    </p188:txBody>
  </p188:cm>
</p188:cmLst>
</file>

<file path=ppt/comments/modernComment_100_2424C107.xml><?xml version="1.0" encoding="utf-8"?>
<p188:cmLst xmlns:a="http://schemas.openxmlformats.org/drawingml/2006/main" xmlns:r="http://schemas.openxmlformats.org/officeDocument/2006/relationships" xmlns:p188="http://schemas.microsoft.com/office/powerpoint/2018/8/main">
  <p188:cm id="{3A62AFF6-E72A-41C5-9C73-824512DE90FD}" authorId="{8D150586-628A-9C83-825C-0A741BDC59CA}" created="2025-12-03T06:06:08.346">
    <pc:sldMkLst xmlns:pc="http://schemas.microsoft.com/office/powerpoint/2013/main/command">
      <pc:docMk/>
      <pc:sldMk cId="606388487" sldId="256"/>
    </pc:sldMkLst>
    <p188:txBody>
      <a:bodyPr/>
      <a:lstStyle/>
      <a:p>
        <a:r>
          <a:rPr lang="en-US"/>
          <a:t>“Hello everyone, my name is Ruben Chagollan, and today I will be presenting my Big Data project:
Yelp Nevada Business Trends Using Big Data Tools.”</a:t>
        </a:r>
      </a:p>
    </p188:txBody>
  </p188:cm>
</p188:cmLst>
</file>

<file path=ppt/comments/modernComment_101_A351499C.xml><?xml version="1.0" encoding="utf-8"?>
<p188:cmLst xmlns:a="http://schemas.openxmlformats.org/drawingml/2006/main" xmlns:r="http://schemas.openxmlformats.org/officeDocument/2006/relationships" xmlns:p188="http://schemas.microsoft.com/office/powerpoint/2018/8/main">
  <p188:cm id="{1D86C4BB-C009-4430-8AE3-FE295058C4A7}" authorId="{8D150586-628A-9C83-825C-0A741BDC59CA}" created="2025-12-03T06:06:25.550">
    <ac:deMkLst xmlns:ac="http://schemas.microsoft.com/office/drawing/2013/main/command">
      <pc:docMk xmlns:pc="http://schemas.microsoft.com/office/powerpoint/2013/main/command"/>
      <pc:sldMk xmlns:pc="http://schemas.microsoft.com/office/powerpoint/2013/main/command" cId="2740013468" sldId="257"/>
      <ac:spMk id="3" creationId="{B8CE16DC-72FC-AFB9-1E94-EFED64C28114}"/>
    </ac:deMkLst>
    <p188:txBody>
      <a:bodyPr/>
      <a:lstStyle/>
      <a:p>
        <a:r>
          <a:rPr lang="en-US"/>
          <a:t>“The objective of this project was to analyze real Yelp business data using Big Data tools like Hadoop, Hive, and distributed storage.
 We focused specifically on Nevada to identify spatial trends in business location, ratings, and categories.
 Our results are visualized to help understand the business landscape in this region.”</a:t>
        </a:r>
      </a:p>
    </p188:txBody>
  </p188:cm>
</p188:cmLst>
</file>

<file path=ppt/comments/modernComment_102_C59B59E7.xml><?xml version="1.0" encoding="utf-8"?>
<p188:cmLst xmlns:a="http://schemas.openxmlformats.org/drawingml/2006/main" xmlns:r="http://schemas.openxmlformats.org/officeDocument/2006/relationships" xmlns:p188="http://schemas.microsoft.com/office/powerpoint/2018/8/main">
  <p188:cm id="{E489C419-2528-4B9B-A9FA-255C00FD21F4}" authorId="{8D150586-628A-9C83-825C-0A741BDC59CA}" created="2025-12-03T06:06:39.738">
    <pc:sldMkLst xmlns:pc="http://schemas.microsoft.com/office/powerpoint/2013/main/command">
      <pc:docMk/>
      <pc:sldMk cId="3315292647" sldId="258"/>
    </pc:sldMkLst>
    <p188:txBody>
      <a:bodyPr/>
      <a:lstStyle/>
      <a:p>
        <a:r>
          <a:rPr lang="en-US"/>
          <a:t>“The Yelp Open Dataset is a real-world dataset used for research.
 It contains over 8 GB of JSON files including information about businesses, customers, and reviews.
 We used the business dataset which includes location, rating, categories, and open/closed status.”</a:t>
        </a:r>
      </a:p>
    </p188:txBody>
  </p188:cm>
</p188:cmLst>
</file>

<file path=ppt/comments/modernComment_103_A76E181B.xml><?xml version="1.0" encoding="utf-8"?>
<p188:cmLst xmlns:a="http://schemas.openxmlformats.org/drawingml/2006/main" xmlns:r="http://schemas.openxmlformats.org/officeDocument/2006/relationships" xmlns:p188="http://schemas.microsoft.com/office/powerpoint/2018/8/main">
  <p188:cm id="{98969AAE-5AA0-4B63-9FA6-39F66EBAE4E0}" authorId="{8D150586-628A-9C83-825C-0A741BDC59CA}" created="2025-12-03T06:06:54.535">
    <pc:sldMkLst xmlns:pc="http://schemas.microsoft.com/office/powerpoint/2013/main/command">
      <pc:docMk/>
      <pc:sldMk cId="2809010203" sldId="259"/>
    </pc:sldMkLst>
    <p188:txBody>
      <a:bodyPr/>
      <a:lstStyle/>
      <a:p>
        <a:r>
          <a:rPr lang="en-US"/>
          <a:t>“This project was performed using Hadoop HDFS and Apache Hive on a distributed cluster.
 The data was uploaded into HDFS for processing, and Hive was used to run SQL queries efficiently over the large dataset.”</a:t>
        </a:r>
      </a:p>
    </p188:txBody>
  </p188:cm>
</p188:cmLst>
</file>

<file path=ppt/comments/modernComment_104_C64C7DA3.xml><?xml version="1.0" encoding="utf-8"?>
<p188:cmLst xmlns:a="http://schemas.openxmlformats.org/drawingml/2006/main" xmlns:r="http://schemas.openxmlformats.org/officeDocument/2006/relationships" xmlns:p188="http://schemas.microsoft.com/office/powerpoint/2018/8/main">
  <p188:cm id="{5994FA9B-665A-40B8-B040-35CB0C5A9C2B}" authorId="{8D150586-628A-9C83-825C-0A741BDC59CA}" created="2025-12-03T06:07:16.207">
    <pc:sldMkLst xmlns:pc="http://schemas.microsoft.com/office/powerpoint/2013/main/command">
      <pc:docMk/>
      <pc:sldMk cId="3326901667" sldId="260"/>
    </pc:sldMkLst>
    <p188:txBody>
      <a:bodyPr/>
      <a:lstStyle/>
      <a:p>
        <a:r>
          <a:rPr lang="en-US"/>
          <a:t>“This chart shows the workflow of the project.
 We downloaded the dataset, converted JSON to CSV, moved the data into HDFS, created Hive tables, ran SQL queries, and then visualized the results.”</a:t>
        </a:r>
      </a:p>
    </p188:txBody>
  </p188:cm>
</p188:cmLst>
</file>

<file path=ppt/comments/modernComment_105_A291E93E.xml><?xml version="1.0" encoding="utf-8"?>
<p188:cmLst xmlns:a="http://schemas.openxmlformats.org/drawingml/2006/main" xmlns:r="http://schemas.openxmlformats.org/officeDocument/2006/relationships" xmlns:p188="http://schemas.microsoft.com/office/powerpoint/2018/8/main">
  <p188:cm id="{CA883797-519E-462D-B4C1-5FB46FB53260}" authorId="{8D150586-628A-9C83-825C-0A741BDC59CA}" created="2025-12-03T06:07:41.082">
    <pc:sldMkLst xmlns:pc="http://schemas.microsoft.com/office/powerpoint/2013/main/command">
      <pc:docMk/>
      <pc:sldMk cId="2727471422" sldId="261"/>
    </pc:sldMkLst>
    <p188:txBody>
      <a:bodyPr/>
      <a:lstStyle/>
      <a:p>
        <a:r>
          <a:rPr lang="en-US"/>
          <a:t>“Results show that Reno and Sparks have the highest number of Yelp-listed businesses in Nevada.
 This tells us the commercial activity is heavily concentrated in northern Nevada.”</a:t>
        </a:r>
      </a:p>
    </p188:txBody>
  </p188:cm>
</p188:cmLst>
</file>

<file path=ppt/comments/modernComment_106_23BA8B35.xml><?xml version="1.0" encoding="utf-8"?>
<p188:cmLst xmlns:a="http://schemas.openxmlformats.org/drawingml/2006/main" xmlns:r="http://schemas.openxmlformats.org/officeDocument/2006/relationships" xmlns:p188="http://schemas.microsoft.com/office/powerpoint/2018/8/main">
  <p188:cm id="{633E5678-3E96-4A78-B983-3FE1A2C68B82}" authorId="{8D150586-628A-9C83-825C-0A741BDC59CA}" created="2025-12-03T06:07:58.176">
    <pc:sldMkLst xmlns:pc="http://schemas.microsoft.com/office/powerpoint/2013/main/command">
      <pc:docMk/>
      <pc:sldMk cId="599427893" sldId="262"/>
    </pc:sldMkLst>
    <p188:txBody>
      <a:bodyPr/>
      <a:lstStyle/>
      <a:p>
        <a:r>
          <a:rPr lang="en-US"/>
          <a:t>“Restaurants and Home Services are the most common business categories.
 This aligns with industries that typically rely heavily on local consumer reviews.”</a:t>
        </a:r>
      </a:p>
    </p188:txBody>
  </p188:cm>
</p188:cmLst>
</file>

<file path=ppt/comments/modernComment_107_F18B2FD5.xml><?xml version="1.0" encoding="utf-8"?>
<p188:cmLst xmlns:a="http://schemas.openxmlformats.org/drawingml/2006/main" xmlns:r="http://schemas.openxmlformats.org/officeDocument/2006/relationships" xmlns:p188="http://schemas.microsoft.com/office/powerpoint/2018/8/main">
  <p188:cm id="{1A1E6A86-42C9-4B38-8C5C-22BD34E67EF4}" authorId="{8D150586-628A-9C83-825C-0A741BDC59CA}" created="2025-12-03T06:08:19.020">
    <pc:sldMkLst xmlns:pc="http://schemas.microsoft.com/office/powerpoint/2013/main/command">
      <pc:docMk/>
      <pc:sldMk cId="4052430805" sldId="263"/>
    </pc:sldMkLst>
    <p188:txBody>
      <a:bodyPr/>
      <a:lstStyle/>
      <a:p>
        <a:r>
          <a:rPr lang="en-US"/>
          <a:t>“Virginia City has the highest average rating among cities with 20 or more businesses.
 This could indicate better customer satisfaction or tourism-driven service quality.”</a:t>
        </a:r>
      </a:p>
    </p188:txBody>
  </p188:cm>
</p188:cmLst>
</file>

<file path=ppt/comments/modernComment_108_D109F7FC.xml><?xml version="1.0" encoding="utf-8"?>
<p188:cmLst xmlns:a="http://schemas.openxmlformats.org/drawingml/2006/main" xmlns:r="http://schemas.openxmlformats.org/officeDocument/2006/relationships" xmlns:p188="http://schemas.microsoft.com/office/powerpoint/2018/8/main">
  <p188:cm id="{5E007352-20AE-48E7-A3A6-F1FBC99AA09E}" authorId="{8D150586-628A-9C83-825C-0A741BDC59CA}" created="2025-12-03T06:08:28.989">
    <pc:sldMkLst xmlns:pc="http://schemas.microsoft.com/office/powerpoint/2013/main/command">
      <pc:docMk/>
      <pc:sldMk cId="3507091452" sldId="264"/>
    </pc:sldMkLst>
    <p188:txBody>
      <a:bodyPr/>
      <a:lstStyle/>
      <a:p>
        <a:r>
          <a:rPr lang="en-US"/>
          <a:t>“About 81 percent of businesses in the dataset are currently open.
 This provides a time-related insight showing active business presence in the region.”</a:t>
        </a:r>
      </a:p>
    </p188:txBody>
  </p188:cm>
</p188:cmLst>
</file>

<file path=ppt/comments/modernComment_109_36B669A.xml><?xml version="1.0" encoding="utf-8"?>
<p188:cmLst xmlns:a="http://schemas.openxmlformats.org/drawingml/2006/main" xmlns:r="http://schemas.openxmlformats.org/officeDocument/2006/relationships" xmlns:p188="http://schemas.microsoft.com/office/powerpoint/2018/8/main">
  <p188:cm id="{975AD7C3-C6B3-4345-BB4E-C0D3A4F01EC9}" authorId="{8D150586-628A-9C83-825C-0A741BDC59CA}" created="2025-12-03T06:08:40.317">
    <pc:sldMkLst xmlns:pc="http://schemas.microsoft.com/office/powerpoint/2013/main/command">
      <pc:docMk/>
      <pc:sldMk cId="57370266" sldId="265"/>
    </pc:sldMkLst>
    <p188:txBody>
      <a:bodyPr/>
      <a:lstStyle/>
      <a:p>
        <a:r>
          <a:rPr lang="en-US"/>
          <a:t>“I used HiveQL queries to extract meaningful insights from the Nevada portion of the dataset.
 All results were collected from distributed data processing workflows as shown here.”</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CA0979-F579-4E9B-A675-1F5ABBFF00DB}" type="datetimeFigureOut">
              <a:rPr lang="en-US" dirty="0"/>
              <a:t>12/3/2025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73652627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3E7156E-175E-4DBA-9D21-B772C320F342}" type="datetimeFigureOut">
              <a:rPr lang="en-US" dirty="0"/>
              <a:t>12/3/2025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283839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dirty="0"/>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04895F6E-3D02-4292-95D1-C62B3126321B}" type="datetimeFigureOut">
              <a:rPr lang="en-US" dirty="0"/>
              <a:t>12/3/2025</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998297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DCB5ACB-D10C-44A8-9570-124370F4CB38}" type="datetimeFigureOut">
              <a:rPr lang="en-US" dirty="0"/>
              <a:t>12/3/2025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552795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B8D84F4-0E7A-4BDE-98C6-AE68FB974645}" type="datetimeFigureOut">
              <a:rPr lang="en-US" dirty="0"/>
              <a:t>12/3/2025</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656862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BEFF1D8-9801-4C4B-92F3-66C9A863BD74}" type="datetimeFigureOut">
              <a:rPr lang="en-US" dirty="0"/>
              <a:t>12/3/2025</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816206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61FE8FD-B23E-4E1A-83EF-0847EBEA0105}" type="datetimeFigureOut">
              <a:rPr lang="en-US" dirty="0"/>
              <a:t>12/3/2025</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675247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dirty="0"/>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DDF891E-A7C2-465C-AD39-8EDCB0F58E3C}" type="datetimeFigureOut">
              <a:rPr lang="en-US" dirty="0"/>
              <a:t>12/3/2025</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853954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dirty="0"/>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noChangeAspect="1"/>
          </p:cNvSpPr>
          <p:nvPr>
            <p:ph type="pic" idx="1"/>
          </p:nvPr>
        </p:nvSpPr>
        <p:spPr>
          <a:xfrm>
            <a:off x="5063319" y="657103"/>
            <a:ext cx="6483687" cy="555590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39F93E5-AFB6-485C-8E3C-32F92A07875F}" type="datetimeFigureOut">
              <a:rPr lang="en-US" dirty="0"/>
              <a:t>12/3/2025</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000196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F7E76D0F-5A12-4D0A-80B0-1A6122B61E7B}" type="datetimeFigureOut">
              <a:rPr lang="en-US" dirty="0"/>
              <a:t>12/3/2025</a:t>
            </a:fld>
            <a:endParaRPr lang="en-US" dirty="0"/>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411919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8B9E8C84-89CA-44AB-B0BE-5C91BAF75478}" type="datetimeFigureOut">
              <a:rPr lang="en-US" dirty="0"/>
              <a:t>12/3/2025</a:t>
            </a:fld>
            <a:endParaRPr lang="en-US" dirty="0"/>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21508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3A332BE1-279E-4118-9FE3-7952B079A510}" type="datetimeFigureOut">
              <a:rPr lang="en-US" dirty="0"/>
              <a:t>12/3/2025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dirty="0"/>
              <a:t>‹#›</a:t>
            </a:fld>
            <a:endParaRPr lang="en-US" dirty="0"/>
          </a:p>
        </p:txBody>
      </p:sp>
    </p:spTree>
    <p:extLst>
      <p:ext uri="{BB962C8B-B14F-4D97-AF65-F5344CB8AC3E}">
        <p14:creationId xmlns:p14="http://schemas.microsoft.com/office/powerpoint/2010/main" val="126937284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microsoft.com/office/2018/10/relationships/comments" Target="../comments/modernComment_100_2424C107.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01_A351499C.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yelp.com/dataset" TargetMode="External"/><Relationship Id="rId2" Type="http://schemas.microsoft.com/office/2018/10/relationships/comments" Target="../comments/modernComment_102_C59B59E7.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microsoft.com/office/2018/10/relationships/comments" Target="../comments/modernComment_103_A76E181B.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4_C64C7DA3.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microsoft.com/office/2018/10/relationships/comments" Target="../comments/modernComment_105_A291E93E.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106_23BA8B3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8/10/relationships/comments" Target="../comments/modernComment_107_F18B2FD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8/10/relationships/comments" Target="../comments/modernComment_108_D109F7FC.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8/10/relationships/comments" Target="../comments/modernComment_109_36B669A.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rchago7/yelp-nevada-analysis" TargetMode="External"/><Relationship Id="rId2" Type="http://schemas.microsoft.com/office/2018/10/relationships/comments" Target="../comments/modernComment_10A_78AE0DDF.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microsoft.com/office/2018/10/relationships/comments" Target="../comments/modernComment_10B_702051B.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8" Type="http://schemas.openxmlformats.org/officeDocument/2006/relationships/hyperlink" Target="https://docs.python.org/3/library/json.html" TargetMode="External"/><Relationship Id="rId3" Type="http://schemas.openxmlformats.org/officeDocument/2006/relationships/hyperlink" Target="https://www.yelp.com/dataset" TargetMode="External"/><Relationship Id="rId7" Type="http://schemas.openxmlformats.org/officeDocument/2006/relationships/hyperlink" Target="https://docs.python.org/3/library/csv.html" TargetMode="External"/><Relationship Id="rId2" Type="http://schemas.microsoft.com/office/2018/10/relationships/comments" Target="../comments/modernComment_10C_F6DE7ED0.xml"/><Relationship Id="rId1" Type="http://schemas.openxmlformats.org/officeDocument/2006/relationships/slideLayout" Target="../slideLayouts/slideLayout4.xml"/><Relationship Id="rId6" Type="http://schemas.openxmlformats.org/officeDocument/2006/relationships/hyperlink" Target="https://hadoop.apache.org/docs/stable/hadoop-project-dist/hadoop-hdfs/HdfsDesign.html" TargetMode="External"/><Relationship Id="rId5" Type="http://schemas.openxmlformats.org/officeDocument/2006/relationships/hyperlink" Target="https://hive.apache.org/" TargetMode="External"/><Relationship Id="rId4" Type="http://schemas.openxmlformats.org/officeDocument/2006/relationships/hyperlink" Target="https://github.com/rchago7/yelp-nevada-analysi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FD7E7-AE74-E4B9-F5C2-D8BA6C64CF6F}"/>
              </a:ext>
            </a:extLst>
          </p:cNvPr>
          <p:cNvSpPr>
            <a:spLocks noGrp="1"/>
          </p:cNvSpPr>
          <p:nvPr>
            <p:ph type="ctrTitle"/>
          </p:nvPr>
        </p:nvSpPr>
        <p:spPr>
          <a:xfrm>
            <a:off x="2086263" y="15306"/>
            <a:ext cx="7588155" cy="2621154"/>
          </a:xfrm>
        </p:spPr>
        <p:txBody>
          <a:bodyPr/>
          <a:lstStyle/>
          <a:p>
            <a:r>
              <a:rPr lang="en-US" sz="4400" dirty="0"/>
              <a:t>Big Data Analysis of Nevada Business Using Hadoop &amp; Hive</a:t>
            </a:r>
          </a:p>
        </p:txBody>
      </p:sp>
      <p:sp>
        <p:nvSpPr>
          <p:cNvPr id="3" name="Subtitle 2">
            <a:extLst>
              <a:ext uri="{FF2B5EF4-FFF2-40B4-BE49-F238E27FC236}">
                <a16:creationId xmlns:a16="http://schemas.microsoft.com/office/drawing/2014/main" id="{F9C010D0-BBDD-2484-A43A-B3B5E59BC94D}"/>
              </a:ext>
            </a:extLst>
          </p:cNvPr>
          <p:cNvSpPr>
            <a:spLocks noGrp="1"/>
          </p:cNvSpPr>
          <p:nvPr>
            <p:ph type="subTitle" idx="1"/>
          </p:nvPr>
        </p:nvSpPr>
        <p:spPr>
          <a:xfrm>
            <a:off x="1453659" y="2636011"/>
            <a:ext cx="8997135" cy="3786353"/>
          </a:xfrm>
        </p:spPr>
        <p:txBody>
          <a:bodyPr vert="horz" lIns="91440" tIns="45720" rIns="91440" bIns="45720" rtlCol="0" anchor="t">
            <a:noAutofit/>
          </a:bodyPr>
          <a:lstStyle/>
          <a:p>
            <a:r>
              <a:rPr lang="en-US" sz="2800" b="1" dirty="0">
                <a:latin typeface="Aptos"/>
                <a:ea typeface="+mn-lt"/>
                <a:cs typeface="+mn-lt"/>
              </a:rPr>
              <a:t>Yelp Open Dataset – Tempo-Spatial Business Analytics</a:t>
            </a:r>
            <a:br>
              <a:rPr lang="en-US" sz="2800" b="1" dirty="0">
                <a:latin typeface="Aptos"/>
                <a:ea typeface="+mn-lt"/>
                <a:cs typeface="+mn-lt"/>
              </a:rPr>
            </a:br>
            <a:r>
              <a:rPr lang="en-US" sz="2800" b="1" dirty="0">
                <a:latin typeface="Aptos"/>
                <a:ea typeface="+mn-lt"/>
                <a:cs typeface="+mn-lt"/>
              </a:rPr>
              <a:t> CIS 4560 – Introduction to Big Data</a:t>
            </a:r>
            <a:br>
              <a:rPr lang="en-US" sz="2800" b="1" dirty="0">
                <a:latin typeface="Aptos"/>
                <a:ea typeface="+mn-lt"/>
                <a:cs typeface="+mn-lt"/>
              </a:rPr>
            </a:br>
            <a:r>
              <a:rPr lang="en-US" sz="2800" b="1" dirty="0">
                <a:latin typeface="Aptos"/>
                <a:ea typeface="+mn-lt"/>
                <a:cs typeface="+mn-lt"/>
              </a:rPr>
              <a:t> California State University, Los Angeles</a:t>
            </a:r>
            <a:br>
              <a:rPr lang="en-US" sz="2800" b="1" dirty="0">
                <a:latin typeface="Aptos"/>
                <a:ea typeface="+mn-lt"/>
                <a:cs typeface="+mn-lt"/>
              </a:rPr>
            </a:br>
            <a:r>
              <a:rPr lang="en-US" sz="2800" b="1" dirty="0">
                <a:latin typeface="Aptos"/>
                <a:ea typeface="+mn-lt"/>
                <a:cs typeface="+mn-lt"/>
              </a:rPr>
              <a:t> Instructor: Dr. Woo</a:t>
            </a:r>
            <a:br>
              <a:rPr lang="en-US" sz="2800" b="1" dirty="0">
                <a:latin typeface="Aptos"/>
                <a:ea typeface="+mn-lt"/>
                <a:cs typeface="+mn-lt"/>
              </a:rPr>
            </a:br>
            <a:r>
              <a:rPr lang="en-US" sz="2800" b="1" dirty="0">
                <a:latin typeface="Aptos"/>
                <a:ea typeface="+mn-lt"/>
                <a:cs typeface="+mn-lt"/>
              </a:rPr>
              <a:t> Presented by: Ruben Chagollan</a:t>
            </a:r>
            <a:br>
              <a:rPr lang="en-US" sz="2800" b="1" dirty="0">
                <a:latin typeface="Aptos"/>
                <a:ea typeface="+mn-lt"/>
                <a:cs typeface="+mn-lt"/>
              </a:rPr>
            </a:br>
            <a:r>
              <a:rPr lang="en-US" sz="2800" b="1" dirty="0">
                <a:latin typeface="Aptos"/>
                <a:ea typeface="+mn-lt"/>
                <a:cs typeface="+mn-lt"/>
              </a:rPr>
              <a:t> December 3, 2025</a:t>
            </a:r>
            <a:br>
              <a:rPr lang="en-US" sz="2800" b="1" dirty="0">
                <a:latin typeface="Aptos"/>
                <a:ea typeface="+mn-lt"/>
                <a:cs typeface="+mn-lt"/>
              </a:rPr>
            </a:br>
            <a:r>
              <a:rPr lang="en-US" sz="2800" b="1" dirty="0">
                <a:latin typeface="Aptos"/>
                <a:ea typeface="+mn-lt"/>
                <a:cs typeface="+mn-lt"/>
              </a:rPr>
              <a:t> </a:t>
            </a:r>
            <a:endParaRPr lang="en-US" sz="2800" i="1" dirty="0">
              <a:latin typeface="Aptos"/>
            </a:endParaRPr>
          </a:p>
        </p:txBody>
      </p:sp>
    </p:spTree>
    <p:extLst>
      <p:ext uri="{BB962C8B-B14F-4D97-AF65-F5344CB8AC3E}">
        <p14:creationId xmlns:p14="http://schemas.microsoft.com/office/powerpoint/2010/main" val="606388487"/>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D33F9-5E8C-A36F-9638-68F7CE0F1F49}"/>
              </a:ext>
            </a:extLst>
          </p:cNvPr>
          <p:cNvSpPr>
            <a:spLocks noGrp="1"/>
          </p:cNvSpPr>
          <p:nvPr>
            <p:ph type="title"/>
          </p:nvPr>
        </p:nvSpPr>
        <p:spPr/>
        <p:txBody>
          <a:bodyPr>
            <a:normAutofit/>
          </a:bodyPr>
          <a:lstStyle/>
          <a:p>
            <a:r>
              <a:rPr lang="en-US" sz="2800" dirty="0"/>
              <a:t>Project Objectives</a:t>
            </a:r>
          </a:p>
        </p:txBody>
      </p:sp>
      <p:sp>
        <p:nvSpPr>
          <p:cNvPr id="3" name="Content Placeholder 2">
            <a:extLst>
              <a:ext uri="{FF2B5EF4-FFF2-40B4-BE49-F238E27FC236}">
                <a16:creationId xmlns:a16="http://schemas.microsoft.com/office/drawing/2014/main" id="{B8CE16DC-72FC-AFB9-1E94-EFED64C28114}"/>
              </a:ext>
            </a:extLst>
          </p:cNvPr>
          <p:cNvSpPr>
            <a:spLocks noGrp="1"/>
          </p:cNvSpPr>
          <p:nvPr>
            <p:ph idx="1"/>
          </p:nvPr>
        </p:nvSpPr>
        <p:spPr>
          <a:xfrm>
            <a:off x="612647" y="1298589"/>
            <a:ext cx="10653579" cy="5312695"/>
          </a:xfrm>
        </p:spPr>
        <p:txBody>
          <a:bodyPr vert="horz" lIns="91440" tIns="45720" rIns="91440" bIns="45720" rtlCol="0" anchor="t">
            <a:noAutofit/>
          </a:bodyPr>
          <a:lstStyle/>
          <a:p>
            <a:r>
              <a:rPr lang="en-US" sz="2800" dirty="0">
                <a:ea typeface="+mn-lt"/>
                <a:cs typeface="+mn-lt"/>
              </a:rPr>
              <a:t>Use Hadoop HDFS and Hive to process large Yelp business data</a:t>
            </a:r>
            <a:endParaRPr lang="en-US" sz="2800" dirty="0"/>
          </a:p>
          <a:p>
            <a:r>
              <a:rPr lang="en-US" sz="2800" dirty="0">
                <a:ea typeface="+mn-lt"/>
                <a:cs typeface="+mn-lt"/>
              </a:rPr>
              <a:t>Perform Tempo-Spatial analysis focused on Nevada businesses</a:t>
            </a:r>
            <a:endParaRPr lang="en-US" sz="2800" dirty="0"/>
          </a:p>
          <a:p>
            <a:r>
              <a:rPr lang="en-US" sz="2800" dirty="0">
                <a:ea typeface="+mn-lt"/>
                <a:cs typeface="+mn-lt"/>
              </a:rPr>
              <a:t>Identify business trends using SQL queries (ratings, categories, locations)</a:t>
            </a:r>
            <a:endParaRPr lang="en-US" sz="2800" dirty="0"/>
          </a:p>
          <a:p>
            <a:r>
              <a:rPr lang="en-US" sz="2800" dirty="0">
                <a:ea typeface="+mn-lt"/>
                <a:cs typeface="+mn-lt"/>
              </a:rPr>
              <a:t>Visualize results using maps and charts</a:t>
            </a:r>
            <a:endParaRPr lang="en-US" sz="2800" dirty="0"/>
          </a:p>
          <a:p>
            <a:r>
              <a:rPr lang="en-US" sz="2800" dirty="0">
                <a:ea typeface="+mn-lt"/>
                <a:cs typeface="+mn-lt"/>
              </a:rPr>
              <a:t>Publish dataset, queries, and results through GitHub for reproducibility</a:t>
            </a:r>
            <a:endParaRPr lang="en-US" sz="2800" dirty="0"/>
          </a:p>
          <a:p>
            <a:endParaRPr lang="en-US" sz="2800" dirty="0"/>
          </a:p>
        </p:txBody>
      </p:sp>
      <p:sp>
        <p:nvSpPr>
          <p:cNvPr id="4" name="Date Placeholder 3">
            <a:extLst>
              <a:ext uri="{FF2B5EF4-FFF2-40B4-BE49-F238E27FC236}">
                <a16:creationId xmlns:a16="http://schemas.microsoft.com/office/drawing/2014/main" id="{E2E5D3E2-2360-7332-B38D-898B6129A2DB}"/>
              </a:ext>
            </a:extLst>
          </p:cNvPr>
          <p:cNvSpPr>
            <a:spLocks noGrp="1"/>
          </p:cNvSpPr>
          <p:nvPr>
            <p:ph type="dt" sz="half" idx="10"/>
          </p:nvPr>
        </p:nvSpPr>
        <p:spPr/>
        <p:txBody>
          <a:bodyPr/>
          <a:lstStyle/>
          <a:p>
            <a:fld id="{44799C30-59C7-4F59-B8EE-9A574E1FD691}" type="datetime1">
              <a:t>12/3/2025</a:t>
            </a:fld>
            <a:endParaRPr lang="en-US" dirty="0"/>
          </a:p>
        </p:txBody>
      </p:sp>
      <p:sp>
        <p:nvSpPr>
          <p:cNvPr id="5" name="Footer Placeholder 4">
            <a:extLst>
              <a:ext uri="{FF2B5EF4-FFF2-40B4-BE49-F238E27FC236}">
                <a16:creationId xmlns:a16="http://schemas.microsoft.com/office/drawing/2014/main" id="{54981872-EFDE-B437-867C-F49E7E9355E5}"/>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66CA5670-FFF5-CB0E-1B58-98B9BC9E552F}"/>
              </a:ext>
            </a:extLst>
          </p:cNvPr>
          <p:cNvSpPr>
            <a:spLocks noGrp="1"/>
          </p:cNvSpPr>
          <p:nvPr>
            <p:ph type="sldNum" sz="quarter" idx="12"/>
          </p:nvPr>
        </p:nvSpPr>
        <p:spPr/>
        <p:txBody>
          <a:bodyPr/>
          <a:lstStyle/>
          <a:p>
            <a:fld id="{CC057153-B650-4DEB-B370-79DDCFDCE934}" type="slidenum">
              <a:rPr lang="en-US" dirty="0"/>
              <a:t>2</a:t>
            </a:fld>
            <a:endParaRPr lang="en-US" dirty="0"/>
          </a:p>
        </p:txBody>
      </p:sp>
    </p:spTree>
    <p:extLst>
      <p:ext uri="{BB962C8B-B14F-4D97-AF65-F5344CB8AC3E}">
        <p14:creationId xmlns:p14="http://schemas.microsoft.com/office/powerpoint/2010/main" val="2740013468"/>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5C487-02B4-26E0-65E3-D2D1D0B03EFC}"/>
              </a:ext>
            </a:extLst>
          </p:cNvPr>
          <p:cNvSpPr>
            <a:spLocks noGrp="1"/>
          </p:cNvSpPr>
          <p:nvPr>
            <p:ph type="title"/>
          </p:nvPr>
        </p:nvSpPr>
        <p:spPr/>
        <p:txBody>
          <a:bodyPr>
            <a:normAutofit/>
          </a:bodyPr>
          <a:lstStyle/>
          <a:p>
            <a:r>
              <a:rPr lang="en-US" sz="2800" dirty="0"/>
              <a:t>Yelp Open Dataset</a:t>
            </a:r>
          </a:p>
        </p:txBody>
      </p:sp>
      <p:sp>
        <p:nvSpPr>
          <p:cNvPr id="3" name="Content Placeholder 2">
            <a:extLst>
              <a:ext uri="{FF2B5EF4-FFF2-40B4-BE49-F238E27FC236}">
                <a16:creationId xmlns:a16="http://schemas.microsoft.com/office/drawing/2014/main" id="{8B31D759-5B69-70D0-39F6-F067FB5BD6F1}"/>
              </a:ext>
            </a:extLst>
          </p:cNvPr>
          <p:cNvSpPr>
            <a:spLocks noGrp="1"/>
          </p:cNvSpPr>
          <p:nvPr>
            <p:ph idx="1"/>
          </p:nvPr>
        </p:nvSpPr>
        <p:spPr/>
        <p:txBody>
          <a:bodyPr vert="horz" lIns="91440" tIns="45720" rIns="91440" bIns="45720" rtlCol="0" anchor="t">
            <a:normAutofit/>
          </a:bodyPr>
          <a:lstStyle/>
          <a:p>
            <a:r>
              <a:rPr lang="en-US" sz="2800" dirty="0"/>
              <a:t>Source: Yelp Dataset Challenge</a:t>
            </a:r>
          </a:p>
          <a:p>
            <a:r>
              <a:rPr lang="en-US" sz="2800" dirty="0"/>
              <a:t>URL: </a:t>
            </a:r>
            <a:r>
              <a:rPr lang="en-US" sz="2800" dirty="0">
                <a:ea typeface="+mn-lt"/>
                <a:cs typeface="+mn-lt"/>
                <a:hlinkClick r:id="rId3"/>
              </a:rPr>
              <a:t>https://www.yelp.com/dataset</a:t>
            </a:r>
            <a:r>
              <a:rPr lang="en-US" sz="2800" dirty="0">
                <a:ea typeface="+mn-lt"/>
                <a:cs typeface="+mn-lt"/>
              </a:rPr>
              <a:t> </a:t>
            </a:r>
          </a:p>
          <a:p>
            <a:r>
              <a:rPr lang="en-US" sz="2800" dirty="0"/>
              <a:t>Total dataset Size: -8.4 GB (JSON + Photos)</a:t>
            </a:r>
          </a:p>
          <a:p>
            <a:r>
              <a:rPr lang="en-US" sz="2800" dirty="0"/>
              <a:t>Includes </a:t>
            </a:r>
            <a:r>
              <a:rPr lang="en-US" sz="2800" err="1"/>
              <a:t>Busniess</a:t>
            </a:r>
            <a:r>
              <a:rPr lang="en-US" sz="2800" dirty="0"/>
              <a:t>, check-in, user, and review data.</a:t>
            </a:r>
          </a:p>
          <a:p>
            <a:r>
              <a:rPr lang="en-US" sz="2800" dirty="0"/>
              <a:t>Converted raw JSON to CSV for hive loading</a:t>
            </a:r>
          </a:p>
          <a:p>
            <a:r>
              <a:rPr lang="en-US" sz="2800" dirty="0"/>
              <a:t>Analysis focused on Nevada businesses only due to resource limits.</a:t>
            </a:r>
          </a:p>
        </p:txBody>
      </p:sp>
      <p:sp>
        <p:nvSpPr>
          <p:cNvPr id="4" name="Date Placeholder 3">
            <a:extLst>
              <a:ext uri="{FF2B5EF4-FFF2-40B4-BE49-F238E27FC236}">
                <a16:creationId xmlns:a16="http://schemas.microsoft.com/office/drawing/2014/main" id="{E1689CF3-3F2F-07B7-01C9-68A559BDCC65}"/>
              </a:ext>
            </a:extLst>
          </p:cNvPr>
          <p:cNvSpPr>
            <a:spLocks noGrp="1"/>
          </p:cNvSpPr>
          <p:nvPr>
            <p:ph type="dt" sz="half" idx="10"/>
          </p:nvPr>
        </p:nvSpPr>
        <p:spPr/>
        <p:txBody>
          <a:bodyPr/>
          <a:lstStyle/>
          <a:p>
            <a:fld id="{99D46B4F-F846-428A-8E5A-B811C1380B74}" type="datetime1">
              <a:t>12/3/2025</a:t>
            </a:fld>
            <a:endParaRPr lang="en-US" dirty="0"/>
          </a:p>
        </p:txBody>
      </p:sp>
      <p:sp>
        <p:nvSpPr>
          <p:cNvPr id="5" name="Footer Placeholder 4">
            <a:extLst>
              <a:ext uri="{FF2B5EF4-FFF2-40B4-BE49-F238E27FC236}">
                <a16:creationId xmlns:a16="http://schemas.microsoft.com/office/drawing/2014/main" id="{720F080B-863F-A115-A299-4F5F75A809F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3F087D-B7F5-762F-A4D9-785FDE569EF7}"/>
              </a:ext>
            </a:extLst>
          </p:cNvPr>
          <p:cNvSpPr>
            <a:spLocks noGrp="1"/>
          </p:cNvSpPr>
          <p:nvPr>
            <p:ph type="sldNum" sz="quarter" idx="12"/>
          </p:nvPr>
        </p:nvSpPr>
        <p:spPr/>
        <p:txBody>
          <a:bodyPr/>
          <a:lstStyle/>
          <a:p>
            <a:fld id="{CC057153-B650-4DEB-B370-79DDCFDCE934}" type="slidenum">
              <a:rPr lang="en-US" dirty="0"/>
              <a:t>3</a:t>
            </a:fld>
            <a:endParaRPr lang="en-US" dirty="0"/>
          </a:p>
        </p:txBody>
      </p:sp>
    </p:spTree>
    <p:extLst>
      <p:ext uri="{BB962C8B-B14F-4D97-AF65-F5344CB8AC3E}">
        <p14:creationId xmlns:p14="http://schemas.microsoft.com/office/powerpoint/2010/main" val="3315292647"/>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73363-712D-3CE6-8AF0-5D1DBC07136A}"/>
              </a:ext>
            </a:extLst>
          </p:cNvPr>
          <p:cNvSpPr>
            <a:spLocks noGrp="1"/>
          </p:cNvSpPr>
          <p:nvPr>
            <p:ph type="title"/>
          </p:nvPr>
        </p:nvSpPr>
        <p:spPr/>
        <p:txBody>
          <a:bodyPr>
            <a:normAutofit/>
          </a:bodyPr>
          <a:lstStyle/>
          <a:p>
            <a:r>
              <a:rPr lang="en-US" sz="2800" dirty="0"/>
              <a:t>Big Data Platform Configuration</a:t>
            </a:r>
          </a:p>
        </p:txBody>
      </p:sp>
      <p:sp>
        <p:nvSpPr>
          <p:cNvPr id="3" name="Content Placeholder 2">
            <a:extLst>
              <a:ext uri="{FF2B5EF4-FFF2-40B4-BE49-F238E27FC236}">
                <a16:creationId xmlns:a16="http://schemas.microsoft.com/office/drawing/2014/main" id="{89630321-B9B9-5B37-E7CF-76DBE7B887AF}"/>
              </a:ext>
            </a:extLst>
          </p:cNvPr>
          <p:cNvSpPr>
            <a:spLocks noGrp="1"/>
          </p:cNvSpPr>
          <p:nvPr>
            <p:ph idx="1"/>
          </p:nvPr>
        </p:nvSpPr>
        <p:spPr>
          <a:xfrm>
            <a:off x="612647" y="1427985"/>
            <a:ext cx="10653579" cy="4593828"/>
          </a:xfrm>
        </p:spPr>
        <p:txBody>
          <a:bodyPr vert="horz" lIns="91440" tIns="45720" rIns="91440" bIns="45720" rtlCol="0" anchor="t">
            <a:normAutofit/>
          </a:bodyPr>
          <a:lstStyle/>
          <a:p>
            <a:r>
              <a:rPr lang="en-US" sz="2800" b="1" dirty="0">
                <a:ea typeface="+mn-lt"/>
                <a:cs typeface="+mn-lt"/>
              </a:rPr>
              <a:t>Platform:</a:t>
            </a:r>
            <a:r>
              <a:rPr lang="en-US" sz="2800" dirty="0">
                <a:ea typeface="+mn-lt"/>
                <a:cs typeface="+mn-lt"/>
              </a:rPr>
              <a:t> Hadoop + Hive on university Big Data cluster</a:t>
            </a:r>
            <a:endParaRPr lang="en-US" sz="2800"/>
          </a:p>
          <a:p>
            <a:r>
              <a:rPr lang="en-US" sz="2800" b="1" dirty="0">
                <a:ea typeface="+mn-lt"/>
                <a:cs typeface="+mn-lt"/>
              </a:rPr>
              <a:t>Cluster Nodes:</a:t>
            </a:r>
            <a:r>
              <a:rPr lang="en-US" sz="2800" dirty="0">
                <a:ea typeface="+mn-lt"/>
                <a:cs typeface="+mn-lt"/>
              </a:rPr>
              <a:t> 5 nodes </a:t>
            </a:r>
            <a:r>
              <a:rPr lang="en-US" sz="2800" i="1" dirty="0">
                <a:ea typeface="+mn-lt"/>
                <a:cs typeface="+mn-lt"/>
              </a:rPr>
              <a:t>(2 Master, 3 Worker)</a:t>
            </a:r>
            <a:endParaRPr lang="en-US" sz="2800" dirty="0"/>
          </a:p>
          <a:p>
            <a:r>
              <a:rPr lang="en-US" sz="2800" b="1" dirty="0">
                <a:ea typeface="+mn-lt"/>
                <a:cs typeface="+mn-lt"/>
              </a:rPr>
              <a:t>HDFS Storage:</a:t>
            </a:r>
            <a:r>
              <a:rPr lang="en-US" sz="2800" dirty="0">
                <a:ea typeface="+mn-lt"/>
                <a:cs typeface="+mn-lt"/>
              </a:rPr>
              <a:t> Large storage support</a:t>
            </a:r>
            <a:endParaRPr lang="en-US" sz="2800"/>
          </a:p>
          <a:p>
            <a:r>
              <a:rPr lang="en-US" sz="2800" b="1" dirty="0">
                <a:ea typeface="+mn-lt"/>
                <a:cs typeface="+mn-lt"/>
              </a:rPr>
              <a:t>CPU:</a:t>
            </a:r>
            <a:r>
              <a:rPr lang="en-US" sz="2800" dirty="0">
                <a:ea typeface="+mn-lt"/>
                <a:cs typeface="+mn-lt"/>
              </a:rPr>
              <a:t> Multi-core Intel processors</a:t>
            </a:r>
            <a:endParaRPr lang="en-US" sz="2800"/>
          </a:p>
          <a:p>
            <a:r>
              <a:rPr lang="en-US" sz="2800" b="1" dirty="0">
                <a:ea typeface="+mn-lt"/>
                <a:cs typeface="+mn-lt"/>
              </a:rPr>
              <a:t>Memory:</a:t>
            </a:r>
            <a:r>
              <a:rPr lang="en-US" sz="2800" dirty="0">
                <a:ea typeface="+mn-lt"/>
                <a:cs typeface="+mn-lt"/>
              </a:rPr>
              <a:t> Distributed memory across nodes</a:t>
            </a:r>
            <a:endParaRPr lang="en-US" sz="2800"/>
          </a:p>
          <a:p>
            <a:r>
              <a:rPr lang="en-US" sz="2800" b="1" dirty="0">
                <a:ea typeface="+mn-lt"/>
                <a:cs typeface="+mn-lt"/>
              </a:rPr>
              <a:t>Hive Version:</a:t>
            </a:r>
            <a:r>
              <a:rPr lang="en-US" sz="2800" dirty="0">
                <a:ea typeface="+mn-lt"/>
                <a:cs typeface="+mn-lt"/>
              </a:rPr>
              <a:t> SQL-like data analysis environment</a:t>
            </a:r>
            <a:endParaRPr lang="en-US" sz="2800"/>
          </a:p>
          <a:p>
            <a:endParaRPr lang="en-US" dirty="0"/>
          </a:p>
        </p:txBody>
      </p:sp>
      <p:sp>
        <p:nvSpPr>
          <p:cNvPr id="4" name="Date Placeholder 3">
            <a:extLst>
              <a:ext uri="{FF2B5EF4-FFF2-40B4-BE49-F238E27FC236}">
                <a16:creationId xmlns:a16="http://schemas.microsoft.com/office/drawing/2014/main" id="{619D5666-31A6-E939-F92C-6C446339D638}"/>
              </a:ext>
            </a:extLst>
          </p:cNvPr>
          <p:cNvSpPr>
            <a:spLocks noGrp="1"/>
          </p:cNvSpPr>
          <p:nvPr>
            <p:ph type="dt" sz="half" idx="10"/>
          </p:nvPr>
        </p:nvSpPr>
        <p:spPr/>
        <p:txBody>
          <a:bodyPr/>
          <a:lstStyle/>
          <a:p>
            <a:fld id="{F41D8B67-E9D4-4672-BF61-050056DBC960}" type="datetime1">
              <a:t>12/3/2025</a:t>
            </a:fld>
            <a:endParaRPr lang="en-US" dirty="0"/>
          </a:p>
        </p:txBody>
      </p:sp>
      <p:sp>
        <p:nvSpPr>
          <p:cNvPr id="5" name="Footer Placeholder 4">
            <a:extLst>
              <a:ext uri="{FF2B5EF4-FFF2-40B4-BE49-F238E27FC236}">
                <a16:creationId xmlns:a16="http://schemas.microsoft.com/office/drawing/2014/main" id="{4C8FE47D-26B7-5DAD-8CE6-ED6B92839E5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BBBADBE-1416-667C-15B3-C476311DE874}"/>
              </a:ext>
            </a:extLst>
          </p:cNvPr>
          <p:cNvSpPr>
            <a:spLocks noGrp="1"/>
          </p:cNvSpPr>
          <p:nvPr>
            <p:ph type="sldNum" sz="quarter" idx="12"/>
          </p:nvPr>
        </p:nvSpPr>
        <p:spPr/>
        <p:txBody>
          <a:bodyPr/>
          <a:lstStyle/>
          <a:p>
            <a:fld id="{CC057153-B650-4DEB-B370-79DDCFDCE934}" type="slidenum">
              <a:rPr lang="en-US" dirty="0"/>
              <a:t>4</a:t>
            </a:fld>
            <a:endParaRPr lang="en-US" dirty="0"/>
          </a:p>
        </p:txBody>
      </p:sp>
    </p:spTree>
    <p:extLst>
      <p:ext uri="{BB962C8B-B14F-4D97-AF65-F5344CB8AC3E}">
        <p14:creationId xmlns:p14="http://schemas.microsoft.com/office/powerpoint/2010/main" val="2809010203"/>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F3F4E-5DCD-2DF5-09FD-DB5AE349FDCC}"/>
              </a:ext>
            </a:extLst>
          </p:cNvPr>
          <p:cNvSpPr>
            <a:spLocks noGrp="1"/>
          </p:cNvSpPr>
          <p:nvPr>
            <p:ph type="title"/>
          </p:nvPr>
        </p:nvSpPr>
        <p:spPr/>
        <p:txBody>
          <a:bodyPr>
            <a:normAutofit/>
          </a:bodyPr>
          <a:lstStyle/>
          <a:p>
            <a:r>
              <a:rPr lang="en-US" sz="2800" dirty="0"/>
              <a:t>System Workflow Architecture</a:t>
            </a:r>
          </a:p>
        </p:txBody>
      </p:sp>
      <p:pic>
        <p:nvPicPr>
          <p:cNvPr id="15" name="Content Placeholder 14" descr="Arrow Right with solid fill">
            <a:extLst>
              <a:ext uri="{FF2B5EF4-FFF2-40B4-BE49-F238E27FC236}">
                <a16:creationId xmlns:a16="http://schemas.microsoft.com/office/drawing/2014/main" id="{7EE11A69-312A-B551-97C2-994E8713D962}"/>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tretch>
            <a:fillRect/>
          </a:stretch>
        </p:blipFill>
        <p:spPr>
          <a:xfrm>
            <a:off x="2218598" y="2235992"/>
            <a:ext cx="1187569" cy="928777"/>
          </a:xfrm>
          <a:prstGeom prst="rightArrow">
            <a:avLst/>
          </a:prstGeom>
        </p:spPr>
      </p:pic>
      <p:sp>
        <p:nvSpPr>
          <p:cNvPr id="4" name="Date Placeholder 3">
            <a:extLst>
              <a:ext uri="{FF2B5EF4-FFF2-40B4-BE49-F238E27FC236}">
                <a16:creationId xmlns:a16="http://schemas.microsoft.com/office/drawing/2014/main" id="{D1E97E87-BB9D-50C2-D89E-CE99208DEE5E}"/>
              </a:ext>
            </a:extLst>
          </p:cNvPr>
          <p:cNvSpPr>
            <a:spLocks noGrp="1"/>
          </p:cNvSpPr>
          <p:nvPr>
            <p:ph type="dt" sz="half" idx="10"/>
          </p:nvPr>
        </p:nvSpPr>
        <p:spPr/>
        <p:txBody>
          <a:bodyPr/>
          <a:lstStyle/>
          <a:p>
            <a:fld id="{6CE27EFC-DBA3-4F56-B231-6998260FE4EB}" type="datetime1">
              <a:t>12/3/2025</a:t>
            </a:fld>
            <a:endParaRPr lang="en-US" dirty="0"/>
          </a:p>
        </p:txBody>
      </p:sp>
      <p:sp>
        <p:nvSpPr>
          <p:cNvPr id="5" name="Footer Placeholder 4">
            <a:extLst>
              <a:ext uri="{FF2B5EF4-FFF2-40B4-BE49-F238E27FC236}">
                <a16:creationId xmlns:a16="http://schemas.microsoft.com/office/drawing/2014/main" id="{3448B783-423D-AF99-4F96-DBC611B256F0}"/>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D78A748-F3BA-B791-6DD1-3B675A25B809}"/>
              </a:ext>
            </a:extLst>
          </p:cNvPr>
          <p:cNvSpPr>
            <a:spLocks noGrp="1"/>
          </p:cNvSpPr>
          <p:nvPr>
            <p:ph type="sldNum" sz="quarter" idx="12"/>
          </p:nvPr>
        </p:nvSpPr>
        <p:spPr/>
        <p:txBody>
          <a:bodyPr/>
          <a:lstStyle/>
          <a:p>
            <a:fld id="{CC057153-B650-4DEB-B370-79DDCFDCE934}" type="slidenum">
              <a:rPr lang="en-US" dirty="0"/>
              <a:t>5</a:t>
            </a:fld>
            <a:endParaRPr lang="en-US" dirty="0"/>
          </a:p>
        </p:txBody>
      </p:sp>
      <p:sp>
        <p:nvSpPr>
          <p:cNvPr id="7" name="Rectangle: Rounded Corners 6">
            <a:extLst>
              <a:ext uri="{FF2B5EF4-FFF2-40B4-BE49-F238E27FC236}">
                <a16:creationId xmlns:a16="http://schemas.microsoft.com/office/drawing/2014/main" id="{243A42B6-0874-915D-9524-BDE5994DCA49}"/>
              </a:ext>
            </a:extLst>
          </p:cNvPr>
          <p:cNvSpPr/>
          <p:nvPr/>
        </p:nvSpPr>
        <p:spPr>
          <a:xfrm>
            <a:off x="607956" y="2242457"/>
            <a:ext cx="1611085" cy="8926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rPr>
              <a:t>Yelp JSON Dataset (8.4GB)</a:t>
            </a:r>
          </a:p>
        </p:txBody>
      </p:sp>
      <p:sp>
        <p:nvSpPr>
          <p:cNvPr id="8" name="Rectangle: Rounded Corners 7">
            <a:extLst>
              <a:ext uri="{FF2B5EF4-FFF2-40B4-BE49-F238E27FC236}">
                <a16:creationId xmlns:a16="http://schemas.microsoft.com/office/drawing/2014/main" id="{64B10DC7-9FB8-4B0B-3731-7D39707F287A}"/>
              </a:ext>
            </a:extLst>
          </p:cNvPr>
          <p:cNvSpPr/>
          <p:nvPr/>
        </p:nvSpPr>
        <p:spPr>
          <a:xfrm>
            <a:off x="607956" y="4255287"/>
            <a:ext cx="1611085" cy="8926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dirty="0">
                <a:solidFill>
                  <a:schemeClr val="tx1"/>
                </a:solidFill>
              </a:rPr>
              <a:t>Publish Code &amp; Results to GitHub</a:t>
            </a:r>
          </a:p>
        </p:txBody>
      </p:sp>
      <p:sp>
        <p:nvSpPr>
          <p:cNvPr id="9" name="Rectangle: Rounded Corners 8">
            <a:extLst>
              <a:ext uri="{FF2B5EF4-FFF2-40B4-BE49-F238E27FC236}">
                <a16:creationId xmlns:a16="http://schemas.microsoft.com/office/drawing/2014/main" id="{1F24976B-4DDB-7490-26EA-A59D727393CF}"/>
              </a:ext>
            </a:extLst>
          </p:cNvPr>
          <p:cNvSpPr/>
          <p:nvPr/>
        </p:nvSpPr>
        <p:spPr>
          <a:xfrm>
            <a:off x="3411541" y="4255287"/>
            <a:ext cx="1611085" cy="8926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rPr>
              <a:t>Visualize Results</a:t>
            </a:r>
          </a:p>
        </p:txBody>
      </p:sp>
      <p:sp>
        <p:nvSpPr>
          <p:cNvPr id="10" name="Rectangle: Rounded Corners 9">
            <a:extLst>
              <a:ext uri="{FF2B5EF4-FFF2-40B4-BE49-F238E27FC236}">
                <a16:creationId xmlns:a16="http://schemas.microsoft.com/office/drawing/2014/main" id="{9648C303-8003-46C1-287B-BC2CBC475529}"/>
              </a:ext>
            </a:extLst>
          </p:cNvPr>
          <p:cNvSpPr/>
          <p:nvPr/>
        </p:nvSpPr>
        <p:spPr>
          <a:xfrm>
            <a:off x="6215125" y="4255287"/>
            <a:ext cx="1611085" cy="8926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dirty="0">
                <a:solidFill>
                  <a:schemeClr val="tx1"/>
                </a:solidFill>
              </a:rPr>
              <a:t>Run SQL Queries (Nevada filter)</a:t>
            </a:r>
          </a:p>
        </p:txBody>
      </p:sp>
      <p:sp>
        <p:nvSpPr>
          <p:cNvPr id="11" name="Rectangle: Rounded Corners 10">
            <a:extLst>
              <a:ext uri="{FF2B5EF4-FFF2-40B4-BE49-F238E27FC236}">
                <a16:creationId xmlns:a16="http://schemas.microsoft.com/office/drawing/2014/main" id="{004D103D-6353-392E-E481-4A33CA6AD169}"/>
              </a:ext>
            </a:extLst>
          </p:cNvPr>
          <p:cNvSpPr/>
          <p:nvPr/>
        </p:nvSpPr>
        <p:spPr>
          <a:xfrm>
            <a:off x="9018711" y="4255287"/>
            <a:ext cx="1611085" cy="8926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rPr>
              <a:t>Create Hive External Table</a:t>
            </a:r>
          </a:p>
        </p:txBody>
      </p:sp>
      <p:sp>
        <p:nvSpPr>
          <p:cNvPr id="12" name="Rectangle: Rounded Corners 11">
            <a:extLst>
              <a:ext uri="{FF2B5EF4-FFF2-40B4-BE49-F238E27FC236}">
                <a16:creationId xmlns:a16="http://schemas.microsoft.com/office/drawing/2014/main" id="{5066B74A-1775-E91E-EE3E-C979402E860F}"/>
              </a:ext>
            </a:extLst>
          </p:cNvPr>
          <p:cNvSpPr/>
          <p:nvPr/>
        </p:nvSpPr>
        <p:spPr>
          <a:xfrm>
            <a:off x="3411540" y="2242456"/>
            <a:ext cx="1611085" cy="9213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dirty="0">
                <a:solidFill>
                  <a:schemeClr val="tx1"/>
                </a:solidFill>
              </a:rPr>
              <a:t>Convert JSON to CSV (Python)</a:t>
            </a:r>
          </a:p>
        </p:txBody>
      </p:sp>
      <p:sp>
        <p:nvSpPr>
          <p:cNvPr id="13" name="Rectangle: Rounded Corners 12">
            <a:extLst>
              <a:ext uri="{FF2B5EF4-FFF2-40B4-BE49-F238E27FC236}">
                <a16:creationId xmlns:a16="http://schemas.microsoft.com/office/drawing/2014/main" id="{9D906BF6-A584-499C-5B8A-0E8CC41CA79B}"/>
              </a:ext>
            </a:extLst>
          </p:cNvPr>
          <p:cNvSpPr/>
          <p:nvPr/>
        </p:nvSpPr>
        <p:spPr>
          <a:xfrm>
            <a:off x="6215126" y="2242456"/>
            <a:ext cx="1611085" cy="8926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rPr>
              <a:t>Upload CSV to </a:t>
            </a:r>
            <a:r>
              <a:rPr lang="en-US" dirty="0" err="1">
                <a:solidFill>
                  <a:schemeClr val="tx1"/>
                </a:solidFill>
              </a:rPr>
              <a:t>linux</a:t>
            </a:r>
            <a:r>
              <a:rPr lang="en-US" dirty="0">
                <a:solidFill>
                  <a:schemeClr val="tx1"/>
                </a:solidFill>
              </a:rPr>
              <a:t> /</a:t>
            </a:r>
            <a:r>
              <a:rPr lang="en-US" dirty="0" err="1">
                <a:solidFill>
                  <a:schemeClr val="tx1"/>
                </a:solidFill>
              </a:rPr>
              <a:t>tmp</a:t>
            </a:r>
            <a:r>
              <a:rPr lang="en-US" dirty="0">
                <a:solidFill>
                  <a:schemeClr val="tx1"/>
                </a:solidFill>
              </a:rPr>
              <a:t> directory</a:t>
            </a:r>
          </a:p>
        </p:txBody>
      </p:sp>
      <p:sp>
        <p:nvSpPr>
          <p:cNvPr id="14" name="Rectangle: Rounded Corners 13">
            <a:extLst>
              <a:ext uri="{FF2B5EF4-FFF2-40B4-BE49-F238E27FC236}">
                <a16:creationId xmlns:a16="http://schemas.microsoft.com/office/drawing/2014/main" id="{B4023B6F-E682-B7E4-E288-65D18EA99AE6}"/>
              </a:ext>
            </a:extLst>
          </p:cNvPr>
          <p:cNvSpPr/>
          <p:nvPr/>
        </p:nvSpPr>
        <p:spPr>
          <a:xfrm>
            <a:off x="9018711" y="2228080"/>
            <a:ext cx="1611085" cy="8926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rPr>
              <a:t>Move into HDFS storage</a:t>
            </a:r>
          </a:p>
        </p:txBody>
      </p:sp>
      <p:pic>
        <p:nvPicPr>
          <p:cNvPr id="17" name="Content Placeholder 14" descr="Arrow Right with solid fill">
            <a:extLst>
              <a:ext uri="{FF2B5EF4-FFF2-40B4-BE49-F238E27FC236}">
                <a16:creationId xmlns:a16="http://schemas.microsoft.com/office/drawing/2014/main" id="{AC37AA08-872A-F2CD-92D0-C9FF9722AA3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16432" y="2230241"/>
            <a:ext cx="1187569" cy="928777"/>
          </a:xfrm>
          <a:prstGeom prst="rightArrow">
            <a:avLst/>
          </a:prstGeom>
        </p:spPr>
      </p:pic>
      <p:pic>
        <p:nvPicPr>
          <p:cNvPr id="19" name="Content Placeholder 14" descr="Arrow Right with solid fill">
            <a:extLst>
              <a:ext uri="{FF2B5EF4-FFF2-40B4-BE49-F238E27FC236}">
                <a16:creationId xmlns:a16="http://schemas.microsoft.com/office/drawing/2014/main" id="{EE3F3C9B-8321-A58F-EDA8-85B800F151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20017" y="2187109"/>
            <a:ext cx="1187569" cy="928777"/>
          </a:xfrm>
          <a:prstGeom prst="rightArrow">
            <a:avLst/>
          </a:prstGeom>
        </p:spPr>
      </p:pic>
      <p:pic>
        <p:nvPicPr>
          <p:cNvPr id="21" name="Content Placeholder 14" descr="Arrow Right with solid fill">
            <a:extLst>
              <a:ext uri="{FF2B5EF4-FFF2-40B4-BE49-F238E27FC236}">
                <a16:creationId xmlns:a16="http://schemas.microsoft.com/office/drawing/2014/main" id="{DD394376-208D-1D5C-71C1-9ABA457E8BC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2212847" y="4214316"/>
            <a:ext cx="1187569" cy="928777"/>
          </a:xfrm>
          <a:prstGeom prst="rightArrow">
            <a:avLst/>
          </a:prstGeom>
        </p:spPr>
      </p:pic>
      <p:pic>
        <p:nvPicPr>
          <p:cNvPr id="23" name="Content Placeholder 14" descr="Arrow Right with solid fill">
            <a:extLst>
              <a:ext uri="{FF2B5EF4-FFF2-40B4-BE49-F238E27FC236}">
                <a16:creationId xmlns:a16="http://schemas.microsoft.com/office/drawing/2014/main" id="{BF029BEA-EF46-D8D7-D0CD-40D70E171D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5016432" y="4171184"/>
            <a:ext cx="1187569" cy="928777"/>
          </a:xfrm>
          <a:prstGeom prst="rightArrow">
            <a:avLst/>
          </a:prstGeom>
        </p:spPr>
      </p:pic>
      <p:pic>
        <p:nvPicPr>
          <p:cNvPr id="25" name="Content Placeholder 14" descr="Arrow Right with solid fill">
            <a:extLst>
              <a:ext uri="{FF2B5EF4-FFF2-40B4-BE49-F238E27FC236}">
                <a16:creationId xmlns:a16="http://schemas.microsoft.com/office/drawing/2014/main" id="{7EBFD316-FD05-EA5E-9AA6-B6DC3C5E498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825768" y="4176935"/>
            <a:ext cx="1187569" cy="928777"/>
          </a:xfrm>
          <a:prstGeom prst="rightArrow">
            <a:avLst/>
          </a:prstGeom>
        </p:spPr>
      </p:pic>
      <p:pic>
        <p:nvPicPr>
          <p:cNvPr id="27" name="Content Placeholder 14" descr="Arrow Right with solid fill">
            <a:extLst>
              <a:ext uri="{FF2B5EF4-FFF2-40B4-BE49-F238E27FC236}">
                <a16:creationId xmlns:a16="http://schemas.microsoft.com/office/drawing/2014/main" id="{83CB422A-69A7-E4B8-A5A1-19BD879A70D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9214621" y="3251033"/>
            <a:ext cx="1187569" cy="928777"/>
          </a:xfrm>
          <a:prstGeom prst="rightArrow">
            <a:avLst/>
          </a:prstGeom>
        </p:spPr>
      </p:pic>
      <p:pic>
        <p:nvPicPr>
          <p:cNvPr id="28" name="Graphic 27" descr="Database with solid fill">
            <a:extLst>
              <a:ext uri="{FF2B5EF4-FFF2-40B4-BE49-F238E27FC236}">
                <a16:creationId xmlns:a16="http://schemas.microsoft.com/office/drawing/2014/main" id="{BBBC0133-2951-440A-D2B3-BA380B134FF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00272" y="3129951"/>
            <a:ext cx="914400" cy="914400"/>
          </a:xfrm>
          <a:prstGeom prst="rect">
            <a:avLst/>
          </a:prstGeom>
        </p:spPr>
      </p:pic>
    </p:spTree>
    <p:extLst>
      <p:ext uri="{BB962C8B-B14F-4D97-AF65-F5344CB8AC3E}">
        <p14:creationId xmlns:p14="http://schemas.microsoft.com/office/powerpoint/2010/main" val="3326901667"/>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A892E-F5B1-716E-9A46-B62C879EA880}"/>
              </a:ext>
            </a:extLst>
          </p:cNvPr>
          <p:cNvSpPr>
            <a:spLocks noGrp="1"/>
          </p:cNvSpPr>
          <p:nvPr>
            <p:ph type="title"/>
          </p:nvPr>
        </p:nvSpPr>
        <p:spPr/>
        <p:txBody>
          <a:bodyPr>
            <a:normAutofit/>
          </a:bodyPr>
          <a:lstStyle/>
          <a:p>
            <a:r>
              <a:rPr lang="en-US" sz="2800" dirty="0"/>
              <a:t>Query Results - Visualization</a:t>
            </a:r>
          </a:p>
        </p:txBody>
      </p:sp>
      <p:sp>
        <p:nvSpPr>
          <p:cNvPr id="3" name="Content Placeholder 2">
            <a:extLst>
              <a:ext uri="{FF2B5EF4-FFF2-40B4-BE49-F238E27FC236}">
                <a16:creationId xmlns:a16="http://schemas.microsoft.com/office/drawing/2014/main" id="{88113D86-4BFC-227F-3A6B-8D8646AC3243}"/>
              </a:ext>
            </a:extLst>
          </p:cNvPr>
          <p:cNvSpPr>
            <a:spLocks noGrp="1"/>
          </p:cNvSpPr>
          <p:nvPr>
            <p:ph idx="1"/>
          </p:nvPr>
        </p:nvSpPr>
        <p:spPr/>
        <p:txBody>
          <a:bodyPr vert="horz" lIns="91440" tIns="45720" rIns="91440" bIns="45720" rtlCol="0" anchor="t">
            <a:normAutofit/>
          </a:bodyPr>
          <a:lstStyle/>
          <a:p>
            <a:pPr marL="0" indent="0">
              <a:buNone/>
            </a:pPr>
            <a:r>
              <a:rPr lang="en-US" sz="2800" dirty="0"/>
              <a:t>Top 10 Nevada Cities by business count</a:t>
            </a:r>
          </a:p>
        </p:txBody>
      </p:sp>
      <p:sp>
        <p:nvSpPr>
          <p:cNvPr id="4" name="Date Placeholder 3">
            <a:extLst>
              <a:ext uri="{FF2B5EF4-FFF2-40B4-BE49-F238E27FC236}">
                <a16:creationId xmlns:a16="http://schemas.microsoft.com/office/drawing/2014/main" id="{022DF88E-3EAA-BBB9-4310-757A8E6ACDE6}"/>
              </a:ext>
            </a:extLst>
          </p:cNvPr>
          <p:cNvSpPr>
            <a:spLocks noGrp="1"/>
          </p:cNvSpPr>
          <p:nvPr>
            <p:ph type="dt" sz="half" idx="10"/>
          </p:nvPr>
        </p:nvSpPr>
        <p:spPr/>
        <p:txBody>
          <a:bodyPr/>
          <a:lstStyle/>
          <a:p>
            <a:fld id="{EB201E0F-A091-414F-9E82-2240D7158D53}" type="datetime1">
              <a:t>12/3/2025</a:t>
            </a:fld>
            <a:endParaRPr lang="en-US" dirty="0"/>
          </a:p>
        </p:txBody>
      </p:sp>
      <p:sp>
        <p:nvSpPr>
          <p:cNvPr id="5" name="Footer Placeholder 4">
            <a:extLst>
              <a:ext uri="{FF2B5EF4-FFF2-40B4-BE49-F238E27FC236}">
                <a16:creationId xmlns:a16="http://schemas.microsoft.com/office/drawing/2014/main" id="{5C016B0B-CD5C-2ED5-DB3D-468D78FE25A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D937E2-CAF8-8DD2-0E7B-9A81E40EA718}"/>
              </a:ext>
            </a:extLst>
          </p:cNvPr>
          <p:cNvSpPr>
            <a:spLocks noGrp="1"/>
          </p:cNvSpPr>
          <p:nvPr>
            <p:ph type="sldNum" sz="quarter" idx="12"/>
          </p:nvPr>
        </p:nvSpPr>
        <p:spPr/>
        <p:txBody>
          <a:bodyPr/>
          <a:lstStyle/>
          <a:p>
            <a:fld id="{CC057153-B650-4DEB-B370-79DDCFDCE934}" type="slidenum">
              <a:rPr lang="en-US" dirty="0"/>
              <a:t>6</a:t>
            </a:fld>
            <a:endParaRPr lang="en-US" dirty="0"/>
          </a:p>
        </p:txBody>
      </p:sp>
      <p:graphicFrame>
        <p:nvGraphicFramePr>
          <p:cNvPr id="7" name="Chart 6">
            <a:extLst>
              <a:ext uri="{FF2B5EF4-FFF2-40B4-BE49-F238E27FC236}">
                <a16:creationId xmlns:a16="http://schemas.microsoft.com/office/drawing/2014/main" id="{0C44733F-76A7-312E-D4D0-EBAE42239630}"/>
              </a:ext>
            </a:extLst>
          </p:cNvPr>
          <p:cNvGraphicFramePr/>
          <p:nvPr>
            <p:extLst>
              <p:ext uri="{D42A27DB-BD31-4B8C-83A1-F6EECF244321}">
                <p14:modId xmlns:p14="http://schemas.microsoft.com/office/powerpoint/2010/main" val="2132611512"/>
              </p:ext>
            </p:extLst>
          </p:nvPr>
        </p:nvGraphicFramePr>
        <p:xfrm>
          <a:off x="934528" y="2160857"/>
          <a:ext cx="6096000" cy="41465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27471422"/>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6C53F-3DC7-2633-7B55-0FFBAA11BD63}"/>
              </a:ext>
            </a:extLst>
          </p:cNvPr>
          <p:cNvSpPr>
            <a:spLocks noGrp="1"/>
          </p:cNvSpPr>
          <p:nvPr>
            <p:ph type="title"/>
          </p:nvPr>
        </p:nvSpPr>
        <p:spPr>
          <a:xfrm>
            <a:off x="612648" y="548640"/>
            <a:ext cx="10653578" cy="1132258"/>
          </a:xfrm>
        </p:spPr>
        <p:txBody>
          <a:bodyPr anchor="t">
            <a:normAutofit/>
          </a:bodyPr>
          <a:lstStyle/>
          <a:p>
            <a:r>
              <a:rPr lang="en-US" sz="2800" dirty="0"/>
              <a:t>Query Results - Visualization</a:t>
            </a:r>
          </a:p>
        </p:txBody>
      </p:sp>
      <p:pic>
        <p:nvPicPr>
          <p:cNvPr id="7" name="Content Placeholder 6" descr="A graph of a business category&#10;&#10;AI-generated content may be incorrect.">
            <a:extLst>
              <a:ext uri="{FF2B5EF4-FFF2-40B4-BE49-F238E27FC236}">
                <a16:creationId xmlns:a16="http://schemas.microsoft.com/office/drawing/2014/main" id="{F9899D6A-9A02-2620-A88F-F57A4B031776}"/>
              </a:ext>
            </a:extLst>
          </p:cNvPr>
          <p:cNvPicPr>
            <a:picLocks noGrp="1" noChangeAspect="1"/>
          </p:cNvPicPr>
          <p:nvPr>
            <p:ph idx="1"/>
          </p:nvPr>
        </p:nvPicPr>
        <p:blipFill>
          <a:blip r:embed="rId3"/>
          <a:stretch>
            <a:fillRect/>
          </a:stretch>
        </p:blipFill>
        <p:spPr>
          <a:xfrm>
            <a:off x="-719" y="1384853"/>
            <a:ext cx="6905743" cy="4335034"/>
          </a:xfrm>
          <a:prstGeom prst="rect">
            <a:avLst/>
          </a:prstGeom>
          <a:noFill/>
        </p:spPr>
      </p:pic>
      <p:sp>
        <p:nvSpPr>
          <p:cNvPr id="4" name="Date Placeholder 3">
            <a:extLst>
              <a:ext uri="{FF2B5EF4-FFF2-40B4-BE49-F238E27FC236}">
                <a16:creationId xmlns:a16="http://schemas.microsoft.com/office/drawing/2014/main" id="{267F1BA6-50B2-FF44-C120-50E141B3561B}"/>
              </a:ext>
            </a:extLst>
          </p:cNvPr>
          <p:cNvSpPr>
            <a:spLocks noGrp="1"/>
          </p:cNvSpPr>
          <p:nvPr>
            <p:ph type="dt" sz="half" idx="10"/>
          </p:nvPr>
        </p:nvSpPr>
        <p:spPr>
          <a:xfrm>
            <a:off x="137160" y="6453002"/>
            <a:ext cx="3494314" cy="365125"/>
          </a:xfrm>
        </p:spPr>
        <p:txBody>
          <a:bodyPr anchor="ctr">
            <a:normAutofit/>
          </a:bodyPr>
          <a:lstStyle/>
          <a:p>
            <a:pPr>
              <a:spcAft>
                <a:spcPts val="600"/>
              </a:spcAft>
            </a:pPr>
            <a:fld id="{31018F72-3F55-449A-8456-4E9DECCBEE62}" type="datetime1">
              <a:pPr>
                <a:spcAft>
                  <a:spcPts val="600"/>
                </a:spcAft>
              </a:pPr>
              <a:t>12/3/2025</a:t>
            </a:fld>
            <a:endParaRPr lang="en-US"/>
          </a:p>
        </p:txBody>
      </p:sp>
      <p:sp>
        <p:nvSpPr>
          <p:cNvPr id="5" name="Footer Placeholder 4">
            <a:extLst>
              <a:ext uri="{FF2B5EF4-FFF2-40B4-BE49-F238E27FC236}">
                <a16:creationId xmlns:a16="http://schemas.microsoft.com/office/drawing/2014/main" id="{C66B82A9-FB0D-AB1E-CDC7-08065AF5FBDF}"/>
              </a:ext>
            </a:extLst>
          </p:cNvPr>
          <p:cNvSpPr>
            <a:spLocks noGrp="1"/>
          </p:cNvSpPr>
          <p:nvPr>
            <p:ph type="ftr" sz="quarter" idx="11"/>
          </p:nvPr>
        </p:nvSpPr>
        <p:spPr>
          <a:xfrm>
            <a:off x="8876521" y="6453002"/>
            <a:ext cx="2805405" cy="365125"/>
          </a:xfrm>
        </p:spPr>
        <p:txBody>
          <a:bodyPr anchor="ctr">
            <a:normAutofit/>
          </a:bodyPr>
          <a:lstStyle/>
          <a:p>
            <a:pPr>
              <a:lnSpc>
                <a:spcPct val="90000"/>
              </a:lnSpc>
              <a:spcAft>
                <a:spcPts val="600"/>
              </a:spcAft>
            </a:pPr>
            <a:r>
              <a:rPr lang="en-US" sz="700"/>
              <a:t>
              </a:t>
            </a:r>
          </a:p>
        </p:txBody>
      </p:sp>
      <p:sp>
        <p:nvSpPr>
          <p:cNvPr id="6" name="Slide Number Placeholder 5">
            <a:extLst>
              <a:ext uri="{FF2B5EF4-FFF2-40B4-BE49-F238E27FC236}">
                <a16:creationId xmlns:a16="http://schemas.microsoft.com/office/drawing/2014/main" id="{8BCADE5B-5B53-3BAF-EF04-74D4A53EF5E6}"/>
              </a:ext>
            </a:extLst>
          </p:cNvPr>
          <p:cNvSpPr>
            <a:spLocks noGrp="1"/>
          </p:cNvSpPr>
          <p:nvPr>
            <p:ph type="sldNum" sz="quarter" idx="12"/>
          </p:nvPr>
        </p:nvSpPr>
        <p:spPr>
          <a:xfrm>
            <a:off x="11632162" y="6453002"/>
            <a:ext cx="429207" cy="365125"/>
          </a:xfrm>
        </p:spPr>
        <p:txBody>
          <a:bodyPr anchor="ctr">
            <a:normAutofit/>
          </a:bodyPr>
          <a:lstStyle/>
          <a:p>
            <a:pPr>
              <a:spcAft>
                <a:spcPts val="600"/>
              </a:spcAft>
            </a:pPr>
            <a:fld id="{CC057153-B650-4DEB-B370-79DDCFDCE934}" type="slidenum">
              <a:rPr lang="en-US" dirty="0"/>
              <a:pPr>
                <a:spcAft>
                  <a:spcPts val="600"/>
                </a:spcAft>
              </a:pPr>
              <a:t>7</a:t>
            </a:fld>
            <a:endParaRPr lang="en-US"/>
          </a:p>
        </p:txBody>
      </p:sp>
      <p:sp>
        <p:nvSpPr>
          <p:cNvPr id="9" name="TextBox 8">
            <a:extLst>
              <a:ext uri="{FF2B5EF4-FFF2-40B4-BE49-F238E27FC236}">
                <a16:creationId xmlns:a16="http://schemas.microsoft.com/office/drawing/2014/main" id="{2421E2C0-DED4-8D05-5BF7-8D90548EEDB6}"/>
              </a:ext>
            </a:extLst>
          </p:cNvPr>
          <p:cNvSpPr txBox="1"/>
          <p:nvPr/>
        </p:nvSpPr>
        <p:spPr>
          <a:xfrm>
            <a:off x="7159925" y="1114244"/>
            <a:ext cx="5204604"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Key Insights</a:t>
            </a:r>
          </a:p>
          <a:p>
            <a:pPr marL="228600" indent="-228600">
              <a:buFont typeface=""/>
              <a:buChar char="•"/>
            </a:pPr>
            <a:r>
              <a:rPr lang="en-US" sz="2800" dirty="0"/>
              <a:t>Restaurants are the most common business category in Nevada</a:t>
            </a:r>
          </a:p>
          <a:p>
            <a:pPr marL="228600" indent="-228600">
              <a:buFont typeface=""/>
              <a:buChar char="•"/>
            </a:pPr>
            <a:r>
              <a:rPr lang="en-US" sz="2800" dirty="0"/>
              <a:t>Service-oriented industries (Home Services, Automotive, Local Services) dominate Yelp listings</a:t>
            </a:r>
          </a:p>
          <a:p>
            <a:pPr marL="228600" indent="-228600">
              <a:buFont typeface=""/>
              <a:buChar char="•"/>
            </a:pPr>
            <a:r>
              <a:rPr lang="en-US" sz="2800" dirty="0"/>
              <a:t>Nightlife and Shopping businesses remain strong in tourism-focused areas</a:t>
            </a:r>
          </a:p>
          <a:p>
            <a:pPr algn="ctr"/>
            <a:endParaRPr lang="en-US" sz="2800" dirty="0"/>
          </a:p>
        </p:txBody>
      </p:sp>
      <p:sp>
        <p:nvSpPr>
          <p:cNvPr id="10" name="TextBox 9">
            <a:extLst>
              <a:ext uri="{FF2B5EF4-FFF2-40B4-BE49-F238E27FC236}">
                <a16:creationId xmlns:a16="http://schemas.microsoft.com/office/drawing/2014/main" id="{9F37D4F8-FAFA-C0B0-F683-D866F1BAEA51}"/>
              </a:ext>
            </a:extLst>
          </p:cNvPr>
          <p:cNvSpPr txBox="1"/>
          <p:nvPr/>
        </p:nvSpPr>
        <p:spPr>
          <a:xfrm>
            <a:off x="1113217" y="5724242"/>
            <a:ext cx="4842293"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Source</a:t>
            </a:r>
          </a:p>
          <a:p>
            <a:r>
              <a:rPr lang="en-US" sz="2800" dirty="0"/>
              <a:t>Yelp Open Dataset – Hive SQL Query Results</a:t>
            </a:r>
          </a:p>
        </p:txBody>
      </p:sp>
    </p:spTree>
    <p:extLst>
      <p:ext uri="{BB962C8B-B14F-4D97-AF65-F5344CB8AC3E}">
        <p14:creationId xmlns:p14="http://schemas.microsoft.com/office/powerpoint/2010/main" val="599427893"/>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4BB91-1849-3CEB-6F60-2F28B5F97C3E}"/>
              </a:ext>
            </a:extLst>
          </p:cNvPr>
          <p:cNvSpPr>
            <a:spLocks noGrp="1"/>
          </p:cNvSpPr>
          <p:nvPr>
            <p:ph type="title"/>
          </p:nvPr>
        </p:nvSpPr>
        <p:spPr>
          <a:xfrm>
            <a:off x="612648" y="548640"/>
            <a:ext cx="10741152" cy="1132258"/>
          </a:xfrm>
        </p:spPr>
        <p:txBody>
          <a:bodyPr anchor="t">
            <a:normAutofit/>
          </a:bodyPr>
          <a:lstStyle/>
          <a:p>
            <a:r>
              <a:rPr lang="en-US" sz="2800" dirty="0"/>
              <a:t>Average Yelp Ratings by Nevada Cities</a:t>
            </a:r>
          </a:p>
        </p:txBody>
      </p:sp>
      <p:sp>
        <p:nvSpPr>
          <p:cNvPr id="3" name="Content Placeholder 2">
            <a:extLst>
              <a:ext uri="{FF2B5EF4-FFF2-40B4-BE49-F238E27FC236}">
                <a16:creationId xmlns:a16="http://schemas.microsoft.com/office/drawing/2014/main" id="{229A7DF8-810C-B897-A2B7-1C1ED2A9AFA3}"/>
              </a:ext>
            </a:extLst>
          </p:cNvPr>
          <p:cNvSpPr>
            <a:spLocks noGrp="1"/>
          </p:cNvSpPr>
          <p:nvPr>
            <p:ph sz="half" idx="1"/>
          </p:nvPr>
        </p:nvSpPr>
        <p:spPr>
          <a:xfrm>
            <a:off x="454497" y="1121134"/>
            <a:ext cx="5541033" cy="5674054"/>
          </a:xfrm>
        </p:spPr>
        <p:txBody>
          <a:bodyPr vert="horz" lIns="91440" tIns="45720" rIns="91440" bIns="45720" rtlCol="0" anchor="t">
            <a:noAutofit/>
          </a:bodyPr>
          <a:lstStyle/>
          <a:p>
            <a:pPr marL="285750" indent="-285750">
              <a:lnSpc>
                <a:spcPct val="110000"/>
              </a:lnSpc>
            </a:pPr>
            <a:r>
              <a:rPr lang="en-US" sz="2800"/>
              <a:t>Virginia City has the highest average rating among cities analyzed</a:t>
            </a:r>
            <a:endParaRPr lang="en-US" sz="2800" dirty="0"/>
          </a:p>
          <a:p>
            <a:pPr>
              <a:lnSpc>
                <a:spcPct val="110000"/>
              </a:lnSpc>
            </a:pPr>
            <a:r>
              <a:rPr lang="en-US" sz="2800" dirty="0"/>
              <a:t>Reno and Sparks show strong ratings with large business populations</a:t>
            </a:r>
          </a:p>
          <a:p>
            <a:pPr>
              <a:lnSpc>
                <a:spcPct val="110000"/>
              </a:lnSpc>
            </a:pPr>
            <a:r>
              <a:rPr lang="en-US" sz="2800" dirty="0"/>
              <a:t>Smaller towns like Verdi and Sun Valley have fewer but reasonably rated businesses</a:t>
            </a:r>
          </a:p>
          <a:p>
            <a:pPr marL="0" indent="0">
              <a:lnSpc>
                <a:spcPct val="110000"/>
              </a:lnSpc>
              <a:buNone/>
            </a:pPr>
            <a:r>
              <a:rPr lang="en-US" sz="2800" dirty="0"/>
              <a:t>Source: Yelp Open Dataset – Hive SQL Query Results</a:t>
            </a:r>
          </a:p>
        </p:txBody>
      </p:sp>
      <p:pic>
        <p:nvPicPr>
          <p:cNvPr id="7" name="Picture 6" descr="A graph with pink lines and numbers&#10;&#10;AI-generated content may be incorrect.">
            <a:extLst>
              <a:ext uri="{FF2B5EF4-FFF2-40B4-BE49-F238E27FC236}">
                <a16:creationId xmlns:a16="http://schemas.microsoft.com/office/drawing/2014/main" id="{6C55747E-A63F-BD4E-10E6-69F84197F2B8}"/>
              </a:ext>
            </a:extLst>
          </p:cNvPr>
          <p:cNvPicPr>
            <a:picLocks noChangeAspect="1"/>
          </p:cNvPicPr>
          <p:nvPr/>
        </p:nvPicPr>
        <p:blipFill>
          <a:blip r:embed="rId3"/>
          <a:srcRect l="201" t="-799" r="11891" b="-1169"/>
          <a:stretch>
            <a:fillRect/>
          </a:stretch>
        </p:blipFill>
        <p:spPr>
          <a:xfrm>
            <a:off x="5740879" y="1690271"/>
            <a:ext cx="6278166" cy="4422253"/>
          </a:xfrm>
          <a:prstGeom prst="rect">
            <a:avLst/>
          </a:prstGeom>
          <a:noFill/>
        </p:spPr>
      </p:pic>
      <p:sp>
        <p:nvSpPr>
          <p:cNvPr id="4" name="Date Placeholder 3">
            <a:extLst>
              <a:ext uri="{FF2B5EF4-FFF2-40B4-BE49-F238E27FC236}">
                <a16:creationId xmlns:a16="http://schemas.microsoft.com/office/drawing/2014/main" id="{638E8195-51EC-D2AA-9709-3FF9315BDFB5}"/>
              </a:ext>
            </a:extLst>
          </p:cNvPr>
          <p:cNvSpPr>
            <a:spLocks noGrp="1"/>
          </p:cNvSpPr>
          <p:nvPr>
            <p:ph type="dt" sz="half" idx="10"/>
          </p:nvPr>
        </p:nvSpPr>
        <p:spPr>
          <a:xfrm>
            <a:off x="137160" y="6453002"/>
            <a:ext cx="3494314" cy="365125"/>
          </a:xfrm>
        </p:spPr>
        <p:txBody>
          <a:bodyPr anchor="ctr">
            <a:normAutofit/>
          </a:bodyPr>
          <a:lstStyle/>
          <a:p>
            <a:pPr>
              <a:spcAft>
                <a:spcPts val="600"/>
              </a:spcAft>
            </a:pPr>
            <a:fld id="{197B57B5-E505-4DA3-A9F2-1465D67C9BF0}" type="datetime1">
              <a:rPr lang="en-US"/>
              <a:pPr>
                <a:spcAft>
                  <a:spcPts val="600"/>
                </a:spcAft>
              </a:pPr>
              <a:t>12/3/2025</a:t>
            </a:fld>
            <a:endParaRPr lang="en-US"/>
          </a:p>
        </p:txBody>
      </p:sp>
      <p:sp>
        <p:nvSpPr>
          <p:cNvPr id="5" name="Footer Placeholder 4">
            <a:extLst>
              <a:ext uri="{FF2B5EF4-FFF2-40B4-BE49-F238E27FC236}">
                <a16:creationId xmlns:a16="http://schemas.microsoft.com/office/drawing/2014/main" id="{1AEFE898-85E3-B3F3-03EF-CA701F8FBB2C}"/>
              </a:ext>
            </a:extLst>
          </p:cNvPr>
          <p:cNvSpPr>
            <a:spLocks noGrp="1"/>
          </p:cNvSpPr>
          <p:nvPr>
            <p:ph type="ftr" sz="quarter" idx="11"/>
          </p:nvPr>
        </p:nvSpPr>
        <p:spPr>
          <a:xfrm>
            <a:off x="8876521" y="6453002"/>
            <a:ext cx="2805405" cy="365125"/>
          </a:xfrm>
        </p:spPr>
        <p:txBody>
          <a:bodyPr anchor="ctr">
            <a:normAutofit/>
          </a:bodyPr>
          <a:lstStyle/>
          <a:p>
            <a:pPr>
              <a:lnSpc>
                <a:spcPct val="90000"/>
              </a:lnSpc>
              <a:spcAft>
                <a:spcPts val="600"/>
              </a:spcAft>
            </a:pPr>
            <a:r>
              <a:rPr lang="en-US" sz="700"/>
              <a:t>
              </a:t>
            </a:r>
          </a:p>
        </p:txBody>
      </p:sp>
      <p:sp>
        <p:nvSpPr>
          <p:cNvPr id="6" name="Slide Number Placeholder 5">
            <a:extLst>
              <a:ext uri="{FF2B5EF4-FFF2-40B4-BE49-F238E27FC236}">
                <a16:creationId xmlns:a16="http://schemas.microsoft.com/office/drawing/2014/main" id="{3F6FDCBE-1FB7-8328-78CC-F3533EF8D8F1}"/>
              </a:ext>
            </a:extLst>
          </p:cNvPr>
          <p:cNvSpPr>
            <a:spLocks noGrp="1"/>
          </p:cNvSpPr>
          <p:nvPr>
            <p:ph type="sldNum" sz="quarter" idx="12"/>
          </p:nvPr>
        </p:nvSpPr>
        <p:spPr>
          <a:xfrm>
            <a:off x="11632162" y="6453002"/>
            <a:ext cx="429207" cy="365125"/>
          </a:xfrm>
        </p:spPr>
        <p:txBody>
          <a:bodyPr anchor="ctr">
            <a:normAutofit/>
          </a:bodyPr>
          <a:lstStyle/>
          <a:p>
            <a:pPr>
              <a:spcAft>
                <a:spcPts val="600"/>
              </a:spcAft>
            </a:pPr>
            <a:fld id="{CC057153-B650-4DEB-B370-79DDCFDCE934}" type="slidenum">
              <a:rPr lang="en-US" dirty="0"/>
              <a:pPr>
                <a:spcAft>
                  <a:spcPts val="600"/>
                </a:spcAft>
              </a:pPr>
              <a:t>8</a:t>
            </a:fld>
            <a:endParaRPr lang="en-US"/>
          </a:p>
        </p:txBody>
      </p:sp>
    </p:spTree>
    <p:extLst>
      <p:ext uri="{BB962C8B-B14F-4D97-AF65-F5344CB8AC3E}">
        <p14:creationId xmlns:p14="http://schemas.microsoft.com/office/powerpoint/2010/main" val="4052430805"/>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5F87B-9EBC-C46D-98AA-6687682446B8}"/>
              </a:ext>
            </a:extLst>
          </p:cNvPr>
          <p:cNvSpPr>
            <a:spLocks noGrp="1"/>
          </p:cNvSpPr>
          <p:nvPr>
            <p:ph type="title"/>
          </p:nvPr>
        </p:nvSpPr>
        <p:spPr>
          <a:xfrm>
            <a:off x="612648" y="548640"/>
            <a:ext cx="10741152" cy="1132258"/>
          </a:xfrm>
        </p:spPr>
        <p:txBody>
          <a:bodyPr anchor="t">
            <a:normAutofit/>
          </a:bodyPr>
          <a:lstStyle/>
          <a:p>
            <a:r>
              <a:rPr lang="en-US" sz="2800" dirty="0"/>
              <a:t>Business Status – Open vs Closed in Nevada</a:t>
            </a:r>
          </a:p>
        </p:txBody>
      </p:sp>
      <p:pic>
        <p:nvPicPr>
          <p:cNvPr id="15" name="Content Placeholder 14" descr="A blue and pink pie chart&#10;&#10;AI-generated content may be incorrect.">
            <a:extLst>
              <a:ext uri="{FF2B5EF4-FFF2-40B4-BE49-F238E27FC236}">
                <a16:creationId xmlns:a16="http://schemas.microsoft.com/office/drawing/2014/main" id="{8D74DC35-C6AF-5D04-9960-A198C824AEED}"/>
              </a:ext>
            </a:extLst>
          </p:cNvPr>
          <p:cNvPicPr>
            <a:picLocks noGrp="1" noChangeAspect="1"/>
          </p:cNvPicPr>
          <p:nvPr>
            <p:ph sz="half" idx="1"/>
          </p:nvPr>
        </p:nvPicPr>
        <p:blipFill>
          <a:blip r:embed="rId3"/>
          <a:srcRect l="14065" r="14187" b="-2"/>
          <a:stretch>
            <a:fillRect/>
          </a:stretch>
        </p:blipFill>
        <p:spPr>
          <a:xfrm>
            <a:off x="612648" y="1825625"/>
            <a:ext cx="5181600" cy="4351338"/>
          </a:xfrm>
          <a:prstGeom prst="rect">
            <a:avLst/>
          </a:prstGeom>
          <a:noFill/>
        </p:spPr>
      </p:pic>
      <p:sp>
        <p:nvSpPr>
          <p:cNvPr id="4" name="Content Placeholder 3">
            <a:extLst>
              <a:ext uri="{FF2B5EF4-FFF2-40B4-BE49-F238E27FC236}">
                <a16:creationId xmlns:a16="http://schemas.microsoft.com/office/drawing/2014/main" id="{7B6DDBDD-68E0-CB36-F56F-395B80F483B9}"/>
              </a:ext>
            </a:extLst>
          </p:cNvPr>
          <p:cNvSpPr>
            <a:spLocks noGrp="1"/>
          </p:cNvSpPr>
          <p:nvPr>
            <p:ph sz="half" idx="2"/>
          </p:nvPr>
        </p:nvSpPr>
        <p:spPr>
          <a:xfrm>
            <a:off x="6157823" y="1753739"/>
            <a:ext cx="5195977" cy="4006281"/>
          </a:xfrm>
        </p:spPr>
        <p:txBody>
          <a:bodyPr vert="horz" lIns="91440" tIns="45720" rIns="91440" bIns="45720" rtlCol="0" anchor="t">
            <a:noAutofit/>
          </a:bodyPr>
          <a:lstStyle/>
          <a:p>
            <a:r>
              <a:rPr lang="en-US" sz="2800" dirty="0"/>
              <a:t>Most Nevada businesses in Yelp dataset are currently open</a:t>
            </a:r>
          </a:p>
          <a:p>
            <a:r>
              <a:rPr lang="en-US" sz="2800" dirty="0"/>
              <a:t>Closed businesses represent ~19% of listings</a:t>
            </a:r>
          </a:p>
          <a:p>
            <a:r>
              <a:rPr lang="en-US" sz="2800" dirty="0"/>
              <a:t>Reflects dynamic changes in local business activity</a:t>
            </a:r>
          </a:p>
          <a:p>
            <a:pPr marL="0" indent="0">
              <a:buNone/>
            </a:pPr>
            <a:r>
              <a:rPr lang="en-US" sz="2800" dirty="0"/>
              <a:t>Source: Yelp Open Dataset — Hive SQL Query Results (Nevada)</a:t>
            </a:r>
          </a:p>
        </p:txBody>
      </p:sp>
      <p:sp>
        <p:nvSpPr>
          <p:cNvPr id="5" name="Date Placeholder 4">
            <a:extLst>
              <a:ext uri="{FF2B5EF4-FFF2-40B4-BE49-F238E27FC236}">
                <a16:creationId xmlns:a16="http://schemas.microsoft.com/office/drawing/2014/main" id="{0B1C4624-EF5B-40C3-2F37-37500CB5978C}"/>
              </a:ext>
            </a:extLst>
          </p:cNvPr>
          <p:cNvSpPr>
            <a:spLocks noGrp="1"/>
          </p:cNvSpPr>
          <p:nvPr>
            <p:ph type="dt" sz="half" idx="10"/>
          </p:nvPr>
        </p:nvSpPr>
        <p:spPr>
          <a:xfrm>
            <a:off x="137160" y="6453002"/>
            <a:ext cx="3494314" cy="365125"/>
          </a:xfrm>
        </p:spPr>
        <p:txBody>
          <a:bodyPr anchor="ctr">
            <a:normAutofit/>
          </a:bodyPr>
          <a:lstStyle/>
          <a:p>
            <a:pPr>
              <a:spcAft>
                <a:spcPts val="600"/>
              </a:spcAft>
            </a:pPr>
            <a:fld id="{045BC004-2FDB-409F-9D17-3507A8730EDB}" type="datetime1">
              <a:rPr lang="en-US"/>
              <a:pPr>
                <a:spcAft>
                  <a:spcPts val="600"/>
                </a:spcAft>
              </a:pPr>
              <a:t>12/3/2025</a:t>
            </a:fld>
            <a:endParaRPr lang="en-US"/>
          </a:p>
        </p:txBody>
      </p:sp>
      <p:sp>
        <p:nvSpPr>
          <p:cNvPr id="6" name="Footer Placeholder 5">
            <a:extLst>
              <a:ext uri="{FF2B5EF4-FFF2-40B4-BE49-F238E27FC236}">
                <a16:creationId xmlns:a16="http://schemas.microsoft.com/office/drawing/2014/main" id="{E6510465-740D-31AC-A8E3-24EA0128DC9E}"/>
              </a:ext>
            </a:extLst>
          </p:cNvPr>
          <p:cNvSpPr>
            <a:spLocks noGrp="1"/>
          </p:cNvSpPr>
          <p:nvPr>
            <p:ph type="ftr" sz="quarter" idx="11"/>
          </p:nvPr>
        </p:nvSpPr>
        <p:spPr>
          <a:xfrm>
            <a:off x="8876521" y="6453002"/>
            <a:ext cx="2805405" cy="365125"/>
          </a:xfrm>
        </p:spPr>
        <p:txBody>
          <a:bodyPr anchor="ctr">
            <a:normAutofit/>
          </a:bodyPr>
          <a:lstStyle/>
          <a:p>
            <a:pPr>
              <a:lnSpc>
                <a:spcPct val="90000"/>
              </a:lnSpc>
              <a:spcAft>
                <a:spcPts val="600"/>
              </a:spcAft>
            </a:pPr>
            <a:r>
              <a:rPr lang="en-US" sz="700"/>
              <a:t>
              </a:t>
            </a:r>
          </a:p>
        </p:txBody>
      </p:sp>
      <p:sp>
        <p:nvSpPr>
          <p:cNvPr id="7" name="Slide Number Placeholder 6">
            <a:extLst>
              <a:ext uri="{FF2B5EF4-FFF2-40B4-BE49-F238E27FC236}">
                <a16:creationId xmlns:a16="http://schemas.microsoft.com/office/drawing/2014/main" id="{1990AF43-31BE-8A40-E278-B2A74F20F55A}"/>
              </a:ext>
            </a:extLst>
          </p:cNvPr>
          <p:cNvSpPr>
            <a:spLocks noGrp="1"/>
          </p:cNvSpPr>
          <p:nvPr>
            <p:ph type="sldNum" sz="quarter" idx="12"/>
          </p:nvPr>
        </p:nvSpPr>
        <p:spPr>
          <a:xfrm>
            <a:off x="11632162" y="6453002"/>
            <a:ext cx="429207" cy="365125"/>
          </a:xfrm>
        </p:spPr>
        <p:txBody>
          <a:bodyPr anchor="ctr">
            <a:normAutofit/>
          </a:bodyPr>
          <a:lstStyle/>
          <a:p>
            <a:pPr>
              <a:spcAft>
                <a:spcPts val="600"/>
              </a:spcAft>
            </a:pPr>
            <a:fld id="{CC057153-B650-4DEB-B370-79DDCFDCE934}" type="slidenum">
              <a:rPr lang="en-US" dirty="0"/>
              <a:pPr>
                <a:spcAft>
                  <a:spcPts val="600"/>
                </a:spcAft>
              </a:pPr>
              <a:t>9</a:t>
            </a:fld>
            <a:endParaRPr lang="en-US"/>
          </a:p>
        </p:txBody>
      </p:sp>
    </p:spTree>
    <p:extLst>
      <p:ext uri="{BB962C8B-B14F-4D97-AF65-F5344CB8AC3E}">
        <p14:creationId xmlns:p14="http://schemas.microsoft.com/office/powerpoint/2010/main" val="3507091452"/>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1E282-90F8-6956-8595-009E7FC348F6}"/>
              </a:ext>
            </a:extLst>
          </p:cNvPr>
          <p:cNvSpPr>
            <a:spLocks noGrp="1"/>
          </p:cNvSpPr>
          <p:nvPr>
            <p:ph type="title"/>
          </p:nvPr>
        </p:nvSpPr>
        <p:spPr>
          <a:xfrm>
            <a:off x="612648" y="548640"/>
            <a:ext cx="10741152" cy="1132258"/>
          </a:xfrm>
        </p:spPr>
        <p:txBody>
          <a:bodyPr anchor="t">
            <a:normAutofit/>
          </a:bodyPr>
          <a:lstStyle/>
          <a:p>
            <a:r>
              <a:rPr lang="en-US" sz="2800" dirty="0"/>
              <a:t>Implementation Summary</a:t>
            </a:r>
          </a:p>
        </p:txBody>
      </p:sp>
      <p:sp>
        <p:nvSpPr>
          <p:cNvPr id="3" name="Content Placeholder 2">
            <a:extLst>
              <a:ext uri="{FF2B5EF4-FFF2-40B4-BE49-F238E27FC236}">
                <a16:creationId xmlns:a16="http://schemas.microsoft.com/office/drawing/2014/main" id="{2DF5BDB3-AE35-764D-C861-BB4B0CD96A2C}"/>
              </a:ext>
            </a:extLst>
          </p:cNvPr>
          <p:cNvSpPr>
            <a:spLocks noGrp="1"/>
          </p:cNvSpPr>
          <p:nvPr>
            <p:ph sz="half" idx="1"/>
          </p:nvPr>
        </p:nvSpPr>
        <p:spPr>
          <a:xfrm>
            <a:off x="-5578" y="934229"/>
            <a:ext cx="5397260" cy="5904092"/>
          </a:xfrm>
        </p:spPr>
        <p:txBody>
          <a:bodyPr vert="horz" lIns="91440" tIns="45720" rIns="91440" bIns="45720" rtlCol="0" anchor="t">
            <a:normAutofit/>
          </a:bodyPr>
          <a:lstStyle/>
          <a:p>
            <a:pPr marL="0" indent="0">
              <a:buNone/>
            </a:pPr>
            <a:r>
              <a:rPr lang="en-US" dirty="0"/>
              <a:t>• Large Yelp JSON dataset downloaded (~8.4GB) </a:t>
            </a:r>
          </a:p>
          <a:p>
            <a:pPr marL="0" indent="0">
              <a:buNone/>
            </a:pPr>
            <a:r>
              <a:rPr lang="en-US" dirty="0"/>
              <a:t>• Converted to CSV using a Python script </a:t>
            </a:r>
          </a:p>
          <a:p>
            <a:pPr marL="0" indent="0">
              <a:buNone/>
            </a:pPr>
            <a:r>
              <a:rPr lang="en-US" dirty="0"/>
              <a:t>• Uploaded dataset to Linux /</a:t>
            </a:r>
            <a:r>
              <a:rPr lang="en-US" dirty="0" err="1"/>
              <a:t>tmp</a:t>
            </a:r>
            <a:r>
              <a:rPr lang="en-US" dirty="0"/>
              <a:t> directory </a:t>
            </a:r>
          </a:p>
          <a:p>
            <a:pPr marL="0" indent="0">
              <a:buNone/>
            </a:pPr>
            <a:r>
              <a:rPr lang="en-US" dirty="0"/>
              <a:t>• Loaded data into HDFS distributed storage • Created Hive external table for SQL querying </a:t>
            </a:r>
          </a:p>
          <a:p>
            <a:pPr marL="0" indent="0">
              <a:buNone/>
            </a:pPr>
            <a:r>
              <a:rPr lang="en-US" dirty="0"/>
              <a:t>• Filtered Nevada businesses for spatial analysis </a:t>
            </a:r>
          </a:p>
          <a:p>
            <a:pPr marL="0" indent="0">
              <a:buNone/>
            </a:pPr>
            <a:r>
              <a:rPr lang="en-US" dirty="0"/>
              <a:t>• Executed HiveQL analytics and saved results </a:t>
            </a:r>
          </a:p>
          <a:p>
            <a:pPr marL="0" indent="0">
              <a:buNone/>
            </a:pPr>
            <a:r>
              <a:rPr lang="en-US" dirty="0"/>
              <a:t>• Visualized final findings using Excel charts • Published code and dataset link on GitHub </a:t>
            </a:r>
            <a:endParaRPr lang="en-US"/>
          </a:p>
        </p:txBody>
      </p:sp>
      <p:pic>
        <p:nvPicPr>
          <p:cNvPr id="44" name="Content Placeholder 43" descr="A diagram of a software process&#10;&#10;AI-generated content may be incorrect.">
            <a:extLst>
              <a:ext uri="{FF2B5EF4-FFF2-40B4-BE49-F238E27FC236}">
                <a16:creationId xmlns:a16="http://schemas.microsoft.com/office/drawing/2014/main" id="{A7C07BB2-DFDC-3F57-4F84-B1D525E2E677}"/>
              </a:ext>
            </a:extLst>
          </p:cNvPr>
          <p:cNvPicPr>
            <a:picLocks noGrp="1" noChangeAspect="1"/>
          </p:cNvPicPr>
          <p:nvPr>
            <p:ph sz="half" idx="2"/>
          </p:nvPr>
        </p:nvPicPr>
        <p:blipFill>
          <a:blip r:embed="rId3"/>
          <a:stretch>
            <a:fillRect/>
          </a:stretch>
        </p:blipFill>
        <p:spPr>
          <a:xfrm>
            <a:off x="5582730" y="1118659"/>
            <a:ext cx="6590578" cy="3709307"/>
          </a:xfrm>
          <a:prstGeom prst="rect">
            <a:avLst/>
          </a:prstGeom>
          <a:noFill/>
        </p:spPr>
      </p:pic>
      <p:sp>
        <p:nvSpPr>
          <p:cNvPr id="5" name="Date Placeholder 4">
            <a:extLst>
              <a:ext uri="{FF2B5EF4-FFF2-40B4-BE49-F238E27FC236}">
                <a16:creationId xmlns:a16="http://schemas.microsoft.com/office/drawing/2014/main" id="{FC0DE8FB-EE3C-18C2-B2D1-39ECD1999D76}"/>
              </a:ext>
            </a:extLst>
          </p:cNvPr>
          <p:cNvSpPr>
            <a:spLocks noGrp="1"/>
          </p:cNvSpPr>
          <p:nvPr>
            <p:ph type="dt" sz="half" idx="10"/>
          </p:nvPr>
        </p:nvSpPr>
        <p:spPr>
          <a:xfrm>
            <a:off x="137160" y="6453002"/>
            <a:ext cx="3494314" cy="365125"/>
          </a:xfrm>
        </p:spPr>
        <p:txBody>
          <a:bodyPr anchor="ctr">
            <a:normAutofit/>
          </a:bodyPr>
          <a:lstStyle/>
          <a:p>
            <a:pPr>
              <a:spcAft>
                <a:spcPts val="600"/>
              </a:spcAft>
            </a:pPr>
            <a:fld id="{9D18DE06-7797-4342-9BCA-5CD7008B2165}" type="datetime1">
              <a:pPr>
                <a:spcAft>
                  <a:spcPts val="600"/>
                </a:spcAft>
              </a:pPr>
              <a:t>12/3/2025</a:t>
            </a:fld>
            <a:endParaRPr lang="en-US"/>
          </a:p>
        </p:txBody>
      </p:sp>
      <p:sp>
        <p:nvSpPr>
          <p:cNvPr id="6" name="Footer Placeholder 5">
            <a:extLst>
              <a:ext uri="{FF2B5EF4-FFF2-40B4-BE49-F238E27FC236}">
                <a16:creationId xmlns:a16="http://schemas.microsoft.com/office/drawing/2014/main" id="{4EC9B2BE-7EDB-80B4-0354-BC0B495EDFF5}"/>
              </a:ext>
            </a:extLst>
          </p:cNvPr>
          <p:cNvSpPr>
            <a:spLocks noGrp="1"/>
          </p:cNvSpPr>
          <p:nvPr>
            <p:ph type="ftr" sz="quarter" idx="11"/>
          </p:nvPr>
        </p:nvSpPr>
        <p:spPr>
          <a:xfrm>
            <a:off x="8876521" y="6453002"/>
            <a:ext cx="2805405" cy="365125"/>
          </a:xfrm>
        </p:spPr>
        <p:txBody>
          <a:bodyPr anchor="ctr">
            <a:normAutofit/>
          </a:bodyPr>
          <a:lstStyle/>
          <a:p>
            <a:pPr>
              <a:lnSpc>
                <a:spcPct val="90000"/>
              </a:lnSpc>
              <a:spcAft>
                <a:spcPts val="600"/>
              </a:spcAft>
            </a:pPr>
            <a:r>
              <a:rPr lang="en-US" sz="700"/>
              <a:t>
              </a:t>
            </a:r>
          </a:p>
        </p:txBody>
      </p:sp>
      <p:sp>
        <p:nvSpPr>
          <p:cNvPr id="7" name="Slide Number Placeholder 6">
            <a:extLst>
              <a:ext uri="{FF2B5EF4-FFF2-40B4-BE49-F238E27FC236}">
                <a16:creationId xmlns:a16="http://schemas.microsoft.com/office/drawing/2014/main" id="{1062AD31-02B0-1E7D-4724-7E4311A9092D}"/>
              </a:ext>
            </a:extLst>
          </p:cNvPr>
          <p:cNvSpPr>
            <a:spLocks noGrp="1"/>
          </p:cNvSpPr>
          <p:nvPr>
            <p:ph type="sldNum" sz="quarter" idx="12"/>
          </p:nvPr>
        </p:nvSpPr>
        <p:spPr>
          <a:xfrm>
            <a:off x="11632162" y="6453002"/>
            <a:ext cx="429207" cy="365125"/>
          </a:xfrm>
        </p:spPr>
        <p:txBody>
          <a:bodyPr anchor="ctr">
            <a:normAutofit/>
          </a:bodyPr>
          <a:lstStyle/>
          <a:p>
            <a:pPr>
              <a:spcAft>
                <a:spcPts val="600"/>
              </a:spcAft>
            </a:pPr>
            <a:fld id="{CC057153-B650-4DEB-B370-79DDCFDCE934}" type="slidenum">
              <a:rPr lang="en-US" dirty="0"/>
              <a:pPr>
                <a:spcAft>
                  <a:spcPts val="600"/>
                </a:spcAft>
              </a:pPr>
              <a:t>10</a:t>
            </a:fld>
            <a:endParaRPr lang="en-US"/>
          </a:p>
        </p:txBody>
      </p:sp>
    </p:spTree>
    <p:extLst>
      <p:ext uri="{BB962C8B-B14F-4D97-AF65-F5344CB8AC3E}">
        <p14:creationId xmlns:p14="http://schemas.microsoft.com/office/powerpoint/2010/main" val="57370266"/>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86C20-D9D6-BFD0-AE54-49FC2AA1142F}"/>
              </a:ext>
            </a:extLst>
          </p:cNvPr>
          <p:cNvSpPr>
            <a:spLocks noGrp="1"/>
          </p:cNvSpPr>
          <p:nvPr>
            <p:ph type="title"/>
          </p:nvPr>
        </p:nvSpPr>
        <p:spPr/>
        <p:txBody>
          <a:bodyPr>
            <a:normAutofit/>
          </a:bodyPr>
          <a:lstStyle/>
          <a:p>
            <a:r>
              <a:rPr lang="en-US" sz="2800" dirty="0"/>
              <a:t>GitHub Repository – Project Files &amp; code</a:t>
            </a:r>
          </a:p>
        </p:txBody>
      </p:sp>
      <p:sp>
        <p:nvSpPr>
          <p:cNvPr id="3" name="Content Placeholder 2">
            <a:extLst>
              <a:ext uri="{FF2B5EF4-FFF2-40B4-BE49-F238E27FC236}">
                <a16:creationId xmlns:a16="http://schemas.microsoft.com/office/drawing/2014/main" id="{39E96BBD-0CCE-B8D5-4ED5-35E88408CA65}"/>
              </a:ext>
            </a:extLst>
          </p:cNvPr>
          <p:cNvSpPr>
            <a:spLocks noGrp="1"/>
          </p:cNvSpPr>
          <p:nvPr>
            <p:ph sz="half" idx="1"/>
          </p:nvPr>
        </p:nvSpPr>
        <p:spPr>
          <a:xfrm>
            <a:off x="3214951" y="1681852"/>
            <a:ext cx="5771071" cy="4423224"/>
          </a:xfrm>
        </p:spPr>
        <p:txBody>
          <a:bodyPr vert="horz" lIns="91440" tIns="45720" rIns="91440" bIns="45720" rtlCol="0" anchor="t">
            <a:normAutofit/>
          </a:bodyPr>
          <a:lstStyle/>
          <a:p>
            <a:pPr marL="0" indent="0">
              <a:buNone/>
            </a:pPr>
            <a:r>
              <a:rPr lang="en-US" sz="2800" dirty="0" err="1"/>
              <a:t>Github</a:t>
            </a:r>
            <a:endParaRPr lang="en-US" sz="2800" dirty="0"/>
          </a:p>
          <a:p>
            <a:pPr marL="0" indent="0">
              <a:buNone/>
            </a:pPr>
            <a:r>
              <a:rPr lang="en-US" sz="2800" dirty="0"/>
              <a:t> URL:  </a:t>
            </a:r>
            <a:r>
              <a:rPr lang="en-US" sz="2800" dirty="0">
                <a:ea typeface="+mn-lt"/>
                <a:cs typeface="+mn-lt"/>
                <a:hlinkClick r:id="rId3"/>
              </a:rPr>
              <a:t>https://github.com/rchago7/yelp-nevada-analysis</a:t>
            </a:r>
            <a:r>
              <a:rPr lang="en-US" sz="2800" dirty="0">
                <a:ea typeface="+mn-lt"/>
                <a:cs typeface="+mn-lt"/>
              </a:rPr>
              <a:t> </a:t>
            </a:r>
            <a:endParaRPr lang="en-US" sz="2800" dirty="0"/>
          </a:p>
          <a:p>
            <a:r>
              <a:rPr lang="en-US" sz="2800" dirty="0">
                <a:ea typeface="+mn-lt"/>
                <a:cs typeface="+mn-lt"/>
              </a:rPr>
              <a:t>Python Script used for data conversion</a:t>
            </a:r>
          </a:p>
          <a:p>
            <a:r>
              <a:rPr lang="en-US" sz="2800" dirty="0">
                <a:ea typeface="+mn-lt"/>
                <a:cs typeface="+mn-lt"/>
              </a:rPr>
              <a:t>Hive SQL queries</a:t>
            </a:r>
          </a:p>
          <a:p>
            <a:r>
              <a:rPr lang="en-US" sz="2800" dirty="0">
                <a:ea typeface="+mn-lt"/>
                <a:cs typeface="+mn-lt"/>
              </a:rPr>
              <a:t>Project Documentation &amp; slides</a:t>
            </a:r>
          </a:p>
        </p:txBody>
      </p:sp>
      <p:sp>
        <p:nvSpPr>
          <p:cNvPr id="5" name="Date Placeholder 4">
            <a:extLst>
              <a:ext uri="{FF2B5EF4-FFF2-40B4-BE49-F238E27FC236}">
                <a16:creationId xmlns:a16="http://schemas.microsoft.com/office/drawing/2014/main" id="{A6794F1A-5F3B-47A4-8D28-0451242F9810}"/>
              </a:ext>
            </a:extLst>
          </p:cNvPr>
          <p:cNvSpPr>
            <a:spLocks noGrp="1"/>
          </p:cNvSpPr>
          <p:nvPr>
            <p:ph type="dt" sz="half" idx="10"/>
          </p:nvPr>
        </p:nvSpPr>
        <p:spPr/>
        <p:txBody>
          <a:bodyPr/>
          <a:lstStyle/>
          <a:p>
            <a:fld id="{E619553F-31DE-4CFE-A03B-BD628EE20A62}" type="datetime1">
              <a:t>12/3/2025</a:t>
            </a:fld>
            <a:endParaRPr lang="en-US" dirty="0"/>
          </a:p>
        </p:txBody>
      </p:sp>
      <p:sp>
        <p:nvSpPr>
          <p:cNvPr id="6" name="Footer Placeholder 5">
            <a:extLst>
              <a:ext uri="{FF2B5EF4-FFF2-40B4-BE49-F238E27FC236}">
                <a16:creationId xmlns:a16="http://schemas.microsoft.com/office/drawing/2014/main" id="{B4301400-39FE-0374-82ED-ACEC1D8792B5}"/>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25CC7CE9-B318-C55F-BA44-4377E56ECEBA}"/>
              </a:ext>
            </a:extLst>
          </p:cNvPr>
          <p:cNvSpPr>
            <a:spLocks noGrp="1"/>
          </p:cNvSpPr>
          <p:nvPr>
            <p:ph type="sldNum" sz="quarter" idx="12"/>
          </p:nvPr>
        </p:nvSpPr>
        <p:spPr/>
        <p:txBody>
          <a:bodyPr/>
          <a:lstStyle/>
          <a:p>
            <a:fld id="{CC057153-B650-4DEB-B370-79DDCFDCE934}" type="slidenum">
              <a:rPr lang="en-US" dirty="0"/>
              <a:t>11</a:t>
            </a:fld>
            <a:endParaRPr lang="en-US" dirty="0"/>
          </a:p>
        </p:txBody>
      </p:sp>
    </p:spTree>
    <p:extLst>
      <p:ext uri="{BB962C8B-B14F-4D97-AF65-F5344CB8AC3E}">
        <p14:creationId xmlns:p14="http://schemas.microsoft.com/office/powerpoint/2010/main" val="2024672735"/>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093CD-A32A-A413-A989-052E7FB51EA9}"/>
              </a:ext>
            </a:extLst>
          </p:cNvPr>
          <p:cNvSpPr>
            <a:spLocks noGrp="1"/>
          </p:cNvSpPr>
          <p:nvPr>
            <p:ph type="title"/>
          </p:nvPr>
        </p:nvSpPr>
        <p:spPr/>
        <p:txBody>
          <a:bodyPr>
            <a:normAutofit/>
          </a:bodyPr>
          <a:lstStyle/>
          <a:p>
            <a:r>
              <a:rPr lang="en-US" sz="2800" dirty="0"/>
              <a:t>Conclusion</a:t>
            </a:r>
          </a:p>
        </p:txBody>
      </p:sp>
      <p:sp>
        <p:nvSpPr>
          <p:cNvPr id="3" name="Content Placeholder 2">
            <a:extLst>
              <a:ext uri="{FF2B5EF4-FFF2-40B4-BE49-F238E27FC236}">
                <a16:creationId xmlns:a16="http://schemas.microsoft.com/office/drawing/2014/main" id="{41B44281-2215-F2CB-6BBA-B620FCFAA015}"/>
              </a:ext>
            </a:extLst>
          </p:cNvPr>
          <p:cNvSpPr>
            <a:spLocks noGrp="1"/>
          </p:cNvSpPr>
          <p:nvPr>
            <p:ph sz="half" idx="1"/>
          </p:nvPr>
        </p:nvSpPr>
        <p:spPr>
          <a:xfrm>
            <a:off x="8799" y="1696228"/>
            <a:ext cx="12183373" cy="4710771"/>
          </a:xfrm>
        </p:spPr>
        <p:txBody>
          <a:bodyPr vert="horz" lIns="91440" tIns="45720" rIns="91440" bIns="45720" rtlCol="0" anchor="t">
            <a:noAutofit/>
          </a:bodyPr>
          <a:lstStyle/>
          <a:p>
            <a:pPr marL="0" indent="0">
              <a:buNone/>
            </a:pPr>
            <a:r>
              <a:rPr lang="en-US" sz="2800" dirty="0">
                <a:ea typeface="+mn-lt"/>
                <a:cs typeface="+mn-lt"/>
              </a:rPr>
              <a:t>• Successfully processed a large real-world dataset using Big Data tools </a:t>
            </a:r>
          </a:p>
          <a:p>
            <a:pPr marL="0" indent="0">
              <a:buNone/>
            </a:pPr>
            <a:r>
              <a:rPr lang="en-US" sz="2800" dirty="0">
                <a:ea typeface="+mn-lt"/>
                <a:cs typeface="+mn-lt"/>
              </a:rPr>
              <a:t>• Performed Tempo-Spatial analysis focused on Nevada businesses </a:t>
            </a:r>
          </a:p>
          <a:p>
            <a:pPr marL="0" indent="0">
              <a:buNone/>
            </a:pPr>
            <a:r>
              <a:rPr lang="en-US" sz="2800" dirty="0">
                <a:ea typeface="+mn-lt"/>
                <a:cs typeface="+mn-lt"/>
              </a:rPr>
              <a:t>• Identified key trends in business distribution, ratings, and categories </a:t>
            </a:r>
          </a:p>
          <a:p>
            <a:pPr marL="0" indent="0">
              <a:buNone/>
            </a:pPr>
            <a:r>
              <a:rPr lang="en-US" sz="2800" dirty="0">
                <a:ea typeface="+mn-lt"/>
                <a:cs typeface="+mn-lt"/>
              </a:rPr>
              <a:t>• Visualized insights to support local business understanding </a:t>
            </a:r>
          </a:p>
          <a:p>
            <a:pPr marL="0" indent="0">
              <a:buNone/>
            </a:pPr>
            <a:r>
              <a:rPr lang="en-US" sz="2800" dirty="0">
                <a:ea typeface="+mn-lt"/>
                <a:cs typeface="+mn-lt"/>
              </a:rPr>
              <a:t>• Demonstrated cloud-based Hive analytics and scalable workflows </a:t>
            </a:r>
          </a:p>
          <a:p>
            <a:pPr marL="0" indent="0">
              <a:buNone/>
            </a:pPr>
            <a:r>
              <a:rPr lang="en-US" sz="2800" dirty="0">
                <a:ea typeface="+mn-lt"/>
                <a:cs typeface="+mn-lt"/>
              </a:rPr>
              <a:t>This project shows how distributed data processing helps reveal meaningful patterns in community business activity.</a:t>
            </a:r>
            <a:endParaRPr lang="en-US" dirty="0"/>
          </a:p>
        </p:txBody>
      </p:sp>
      <p:sp>
        <p:nvSpPr>
          <p:cNvPr id="5" name="Date Placeholder 4">
            <a:extLst>
              <a:ext uri="{FF2B5EF4-FFF2-40B4-BE49-F238E27FC236}">
                <a16:creationId xmlns:a16="http://schemas.microsoft.com/office/drawing/2014/main" id="{991C9482-A299-A7D7-5DAD-5555E7D07075}"/>
              </a:ext>
            </a:extLst>
          </p:cNvPr>
          <p:cNvSpPr>
            <a:spLocks noGrp="1"/>
          </p:cNvSpPr>
          <p:nvPr>
            <p:ph type="dt" sz="half" idx="10"/>
          </p:nvPr>
        </p:nvSpPr>
        <p:spPr/>
        <p:txBody>
          <a:bodyPr/>
          <a:lstStyle/>
          <a:p>
            <a:fld id="{1A3AEBF9-23F7-48EA-AFF6-96B3DDBFC492}" type="datetime1">
              <a:t>12/3/2025</a:t>
            </a:fld>
            <a:endParaRPr lang="en-US" dirty="0"/>
          </a:p>
        </p:txBody>
      </p:sp>
      <p:sp>
        <p:nvSpPr>
          <p:cNvPr id="6" name="Footer Placeholder 5">
            <a:extLst>
              <a:ext uri="{FF2B5EF4-FFF2-40B4-BE49-F238E27FC236}">
                <a16:creationId xmlns:a16="http://schemas.microsoft.com/office/drawing/2014/main" id="{14112639-29F4-81C1-E046-BD21282CFCCC}"/>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E0DA6A3-19BA-DB27-EE5C-CE55FAA6C132}"/>
              </a:ext>
            </a:extLst>
          </p:cNvPr>
          <p:cNvSpPr>
            <a:spLocks noGrp="1"/>
          </p:cNvSpPr>
          <p:nvPr>
            <p:ph type="sldNum" sz="quarter" idx="12"/>
          </p:nvPr>
        </p:nvSpPr>
        <p:spPr/>
        <p:txBody>
          <a:bodyPr/>
          <a:lstStyle/>
          <a:p>
            <a:fld id="{CC057153-B650-4DEB-B370-79DDCFDCE934}" type="slidenum">
              <a:rPr lang="en-US" dirty="0"/>
              <a:t>12</a:t>
            </a:fld>
            <a:endParaRPr lang="en-US" dirty="0"/>
          </a:p>
        </p:txBody>
      </p:sp>
    </p:spTree>
    <p:extLst>
      <p:ext uri="{BB962C8B-B14F-4D97-AF65-F5344CB8AC3E}">
        <p14:creationId xmlns:p14="http://schemas.microsoft.com/office/powerpoint/2010/main" val="117572891"/>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E9744-3BFF-3ED2-FC28-CE71856B416A}"/>
              </a:ext>
            </a:extLst>
          </p:cNvPr>
          <p:cNvSpPr>
            <a:spLocks noGrp="1"/>
          </p:cNvSpPr>
          <p:nvPr>
            <p:ph type="title"/>
          </p:nvPr>
        </p:nvSpPr>
        <p:spPr/>
        <p:txBody>
          <a:bodyPr>
            <a:normAutofit/>
          </a:bodyPr>
          <a:lstStyle/>
          <a:p>
            <a:r>
              <a:rPr lang="en-US" sz="2800" dirty="0"/>
              <a:t>References</a:t>
            </a:r>
          </a:p>
        </p:txBody>
      </p:sp>
      <p:sp>
        <p:nvSpPr>
          <p:cNvPr id="3" name="Content Placeholder 2">
            <a:extLst>
              <a:ext uri="{FF2B5EF4-FFF2-40B4-BE49-F238E27FC236}">
                <a16:creationId xmlns:a16="http://schemas.microsoft.com/office/drawing/2014/main" id="{3DAE7E58-987B-0B23-9A26-00FCF6188942}"/>
              </a:ext>
            </a:extLst>
          </p:cNvPr>
          <p:cNvSpPr>
            <a:spLocks noGrp="1"/>
          </p:cNvSpPr>
          <p:nvPr>
            <p:ph sz="half" idx="1"/>
          </p:nvPr>
        </p:nvSpPr>
        <p:spPr>
          <a:xfrm>
            <a:off x="51932" y="1724985"/>
            <a:ext cx="12140240" cy="4451978"/>
          </a:xfrm>
        </p:spPr>
        <p:txBody>
          <a:bodyPr vert="horz" lIns="91440" tIns="45720" rIns="91440" bIns="45720" rtlCol="0" anchor="t">
            <a:normAutofit/>
          </a:bodyPr>
          <a:lstStyle/>
          <a:p>
            <a:pPr marL="0" indent="0">
              <a:buNone/>
            </a:pPr>
            <a:r>
              <a:rPr lang="en-US" dirty="0">
                <a:ea typeface="+mn-lt"/>
                <a:cs typeface="+mn-lt"/>
              </a:rPr>
              <a:t> • Yelp Open Dataset </a:t>
            </a:r>
            <a:r>
              <a:rPr lang="en-US" dirty="0">
                <a:ea typeface="+mn-lt"/>
                <a:cs typeface="+mn-lt"/>
                <a:hlinkClick r:id="rId3"/>
              </a:rPr>
              <a:t>https://www.yelp.com/dataset</a:t>
            </a:r>
            <a:r>
              <a:rPr lang="en-US" dirty="0">
                <a:ea typeface="+mn-lt"/>
                <a:cs typeface="+mn-lt"/>
              </a:rPr>
              <a:t> </a:t>
            </a:r>
          </a:p>
          <a:p>
            <a:pPr marL="0" indent="0">
              <a:buNone/>
            </a:pPr>
            <a:r>
              <a:rPr lang="en-US" dirty="0">
                <a:ea typeface="+mn-lt"/>
                <a:cs typeface="+mn-lt"/>
              </a:rPr>
              <a:t>• GitHub Repository — Project Code &amp; Documentation </a:t>
            </a:r>
            <a:r>
              <a:rPr lang="en-US" dirty="0">
                <a:ea typeface="+mn-lt"/>
                <a:cs typeface="+mn-lt"/>
                <a:hlinkClick r:id="rId4"/>
              </a:rPr>
              <a:t>https://github.com/rchago7/yelp-nevada-analysis</a:t>
            </a:r>
            <a:r>
              <a:rPr lang="en-US" dirty="0">
                <a:ea typeface="+mn-lt"/>
                <a:cs typeface="+mn-lt"/>
              </a:rPr>
              <a:t> </a:t>
            </a:r>
            <a:endParaRPr lang="en-US">
              <a:ea typeface="+mn-lt"/>
              <a:cs typeface="+mn-lt"/>
            </a:endParaRPr>
          </a:p>
          <a:p>
            <a:pPr marL="0" indent="0">
              <a:buNone/>
            </a:pPr>
            <a:r>
              <a:rPr lang="en-US" dirty="0">
                <a:ea typeface="+mn-lt"/>
                <a:cs typeface="+mn-lt"/>
              </a:rPr>
              <a:t>• Apache Hive Documentation </a:t>
            </a:r>
            <a:r>
              <a:rPr lang="en-US" dirty="0">
                <a:ea typeface="+mn-lt"/>
                <a:cs typeface="+mn-lt"/>
                <a:hlinkClick r:id="rId5"/>
              </a:rPr>
              <a:t>https://hive.apache.org/</a:t>
            </a:r>
            <a:r>
              <a:rPr lang="en-US" dirty="0">
                <a:ea typeface="+mn-lt"/>
                <a:cs typeface="+mn-lt"/>
              </a:rPr>
              <a:t> </a:t>
            </a:r>
            <a:endParaRPr lang="en-US">
              <a:ea typeface="+mn-lt"/>
              <a:cs typeface="+mn-lt"/>
            </a:endParaRPr>
          </a:p>
          <a:p>
            <a:pPr marL="0" indent="0">
              <a:buNone/>
            </a:pPr>
            <a:r>
              <a:rPr lang="en-US" dirty="0">
                <a:ea typeface="+mn-lt"/>
                <a:cs typeface="+mn-lt"/>
              </a:rPr>
              <a:t>• Hadoop Distributed File System (HDFS) Overview </a:t>
            </a:r>
            <a:r>
              <a:rPr lang="en-US" dirty="0">
                <a:ea typeface="+mn-lt"/>
                <a:cs typeface="+mn-lt"/>
                <a:hlinkClick r:id="rId6"/>
              </a:rPr>
              <a:t>https://hadoop.apache.org/docs/stable/hadoop-project-dist/hadoop-hdfs/HdfsDesign.html</a:t>
            </a:r>
            <a:r>
              <a:rPr lang="en-US" dirty="0">
                <a:ea typeface="+mn-lt"/>
                <a:cs typeface="+mn-lt"/>
              </a:rPr>
              <a:t> </a:t>
            </a:r>
            <a:endParaRPr lang="en-US">
              <a:ea typeface="+mn-lt"/>
              <a:cs typeface="+mn-lt"/>
            </a:endParaRPr>
          </a:p>
          <a:p>
            <a:pPr marL="0" indent="0">
              <a:buNone/>
            </a:pPr>
            <a:r>
              <a:rPr lang="en-US" dirty="0">
                <a:ea typeface="+mn-lt"/>
                <a:cs typeface="+mn-lt"/>
              </a:rPr>
              <a:t>• Python CSV &amp; JSON Libraries — Official Docs </a:t>
            </a:r>
            <a:r>
              <a:rPr lang="en-US" dirty="0">
                <a:ea typeface="+mn-lt"/>
                <a:cs typeface="+mn-lt"/>
                <a:hlinkClick r:id="rId7"/>
              </a:rPr>
              <a:t>https://docs.python.org/3/library/csv.html</a:t>
            </a:r>
            <a:r>
              <a:rPr lang="en-US" dirty="0">
                <a:ea typeface="+mn-lt"/>
                <a:cs typeface="+mn-lt"/>
              </a:rPr>
              <a:t>  </a:t>
            </a:r>
            <a:r>
              <a:rPr lang="en-US" dirty="0">
                <a:ea typeface="+mn-lt"/>
                <a:cs typeface="+mn-lt"/>
                <a:hlinkClick r:id="rId8"/>
              </a:rPr>
              <a:t>https://docs.python.org/3/library/json.html</a:t>
            </a:r>
            <a:r>
              <a:rPr lang="en-US" dirty="0">
                <a:ea typeface="+mn-lt"/>
                <a:cs typeface="+mn-lt"/>
              </a:rPr>
              <a:t> </a:t>
            </a:r>
            <a:endParaRPr lang="en-US" dirty="0"/>
          </a:p>
        </p:txBody>
      </p:sp>
      <p:sp>
        <p:nvSpPr>
          <p:cNvPr id="5" name="Date Placeholder 4">
            <a:extLst>
              <a:ext uri="{FF2B5EF4-FFF2-40B4-BE49-F238E27FC236}">
                <a16:creationId xmlns:a16="http://schemas.microsoft.com/office/drawing/2014/main" id="{0927648A-AC5E-3343-593D-B3FB90BEBB30}"/>
              </a:ext>
            </a:extLst>
          </p:cNvPr>
          <p:cNvSpPr>
            <a:spLocks noGrp="1"/>
          </p:cNvSpPr>
          <p:nvPr>
            <p:ph type="dt" sz="half" idx="10"/>
          </p:nvPr>
        </p:nvSpPr>
        <p:spPr/>
        <p:txBody>
          <a:bodyPr/>
          <a:lstStyle/>
          <a:p>
            <a:fld id="{D025F78B-A16D-460B-BC5D-BEA47300EFAE}" type="datetime1">
              <a:t>12/3/2025</a:t>
            </a:fld>
            <a:endParaRPr lang="en-US" dirty="0"/>
          </a:p>
        </p:txBody>
      </p:sp>
      <p:sp>
        <p:nvSpPr>
          <p:cNvPr id="6" name="Footer Placeholder 5">
            <a:extLst>
              <a:ext uri="{FF2B5EF4-FFF2-40B4-BE49-F238E27FC236}">
                <a16:creationId xmlns:a16="http://schemas.microsoft.com/office/drawing/2014/main" id="{7824B01B-B9CA-BC7F-EDCD-2BE40AA89B44}"/>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A786E18-D40D-80E1-A487-234B64701C73}"/>
              </a:ext>
            </a:extLst>
          </p:cNvPr>
          <p:cNvSpPr>
            <a:spLocks noGrp="1"/>
          </p:cNvSpPr>
          <p:nvPr>
            <p:ph type="sldNum" sz="quarter" idx="12"/>
          </p:nvPr>
        </p:nvSpPr>
        <p:spPr/>
        <p:txBody>
          <a:bodyPr/>
          <a:lstStyle/>
          <a:p>
            <a:fld id="{CC057153-B650-4DEB-B370-79DDCFDCE934}" type="slidenum">
              <a:rPr lang="en-US" dirty="0"/>
              <a:t>13</a:t>
            </a:fld>
            <a:endParaRPr lang="en-US" dirty="0"/>
          </a:p>
        </p:txBody>
      </p:sp>
    </p:spTree>
    <p:extLst>
      <p:ext uri="{BB962C8B-B14F-4D97-AF65-F5344CB8AC3E}">
        <p14:creationId xmlns:p14="http://schemas.microsoft.com/office/powerpoint/2010/main" val="4141776592"/>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VanillaVTI">
  <a:themeElements>
    <a:clrScheme name="VanillaVTI">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VanillaVTI">
      <a:majorFont>
        <a:latin typeface="Neue Haas Grotesk Text Pro"/>
        <a:ea typeface=""/>
        <a:cs typeface=""/>
      </a:majorFont>
      <a:minorFont>
        <a:latin typeface="Neue Haas Grotesk Text Pro"/>
        <a:ea typeface=""/>
        <a:cs typeface=""/>
      </a:minorFont>
    </a:fontScheme>
    <a:fmtScheme name="Vanilla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AACC6CF0-9F86-48CC-9C4E-CA578EE0A0A0}" vid="{3BDE51FE-56D6-4100-AFB5-5B4AEDCE2EF6}"/>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VanillaVTI</vt:lpstr>
      <vt:lpstr>Big Data Analysis of Nevada Business Using Hadoop &amp; Hive</vt:lpstr>
      <vt:lpstr>Project Objectives</vt:lpstr>
      <vt:lpstr>Yelp Open Dataset</vt:lpstr>
      <vt:lpstr>Big Data Platform Configuration</vt:lpstr>
      <vt:lpstr>System Workflow Architecture</vt:lpstr>
      <vt:lpstr>Query Results - Visualization</vt:lpstr>
      <vt:lpstr>Query Results - Visualization</vt:lpstr>
      <vt:lpstr>Average Yelp Ratings by Nevada Cities</vt:lpstr>
      <vt:lpstr>Business Status – Open vs Closed in Nevada</vt:lpstr>
      <vt:lpstr>Implementation Summary</vt:lpstr>
      <vt:lpstr>GitHub Repository – Project Files &amp; code</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417</cp:revision>
  <dcterms:created xsi:type="dcterms:W3CDTF">2025-12-03T01:19:22Z</dcterms:created>
  <dcterms:modified xsi:type="dcterms:W3CDTF">2025-12-03T09:24:40Z</dcterms:modified>
</cp:coreProperties>
</file>